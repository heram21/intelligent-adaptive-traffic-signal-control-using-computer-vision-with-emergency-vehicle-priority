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Lst>
  <p:sldIdLst>
    <p:sldId id="272" r:id="rId2"/>
    <p:sldId id="279" r:id="rId3"/>
    <p:sldId id="267" r:id="rId4"/>
    <p:sldId id="280" r:id="rId5"/>
    <p:sldId id="293" r:id="rId6"/>
    <p:sldId id="281" r:id="rId7"/>
    <p:sldId id="284" r:id="rId8"/>
    <p:sldId id="282" r:id="rId9"/>
    <p:sldId id="285" r:id="rId10"/>
    <p:sldId id="286" r:id="rId11"/>
    <p:sldId id="287" r:id="rId12"/>
    <p:sldId id="288" r:id="rId13"/>
    <p:sldId id="289" r:id="rId14"/>
    <p:sldId id="290" r:id="rId15"/>
    <p:sldId id="291" r:id="rId16"/>
    <p:sldId id="292" r:id="rId17"/>
    <p:sldId id="294" r:id="rId18"/>
    <p:sldId id="295" r:id="rId19"/>
    <p:sldId id="296" r:id="rId20"/>
    <p:sldId id="297" r:id="rId21"/>
    <p:sldId id="278"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bha challa" initials="sc"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964" autoAdjust="0"/>
    <p:restoredTop sz="94343" autoAdjust="0"/>
  </p:normalViewPr>
  <p:slideViewPr>
    <p:cSldViewPr showGuides="1">
      <p:cViewPr>
        <p:scale>
          <a:sx n="88" d="100"/>
          <a:sy n="88" d="100"/>
        </p:scale>
        <p:origin x="384" y="57"/>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AA04797-B579-40AF-8F83-E4702A9ED9FF}" type="datetimeFigureOut">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D9D178-02C0-4294-8602-787D7B816A54}" type="slidenum">
              <a:rPr lang="en-US" smtClean="0"/>
              <a:t>‹#›</a:t>
            </a:fld>
            <a:endParaRPr lang="en-US"/>
          </a:p>
        </p:txBody>
      </p:sp>
    </p:spTree>
    <p:extLst>
      <p:ext uri="{BB962C8B-B14F-4D97-AF65-F5344CB8AC3E}">
        <p14:creationId xmlns:p14="http://schemas.microsoft.com/office/powerpoint/2010/main" val="25791269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A04797-B579-40AF-8F83-E4702A9ED9FF}" type="datetimeFigureOut">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D9D178-02C0-4294-8602-787D7B816A54}" type="slidenum">
              <a:rPr lang="en-US" smtClean="0"/>
              <a:t>‹#›</a:t>
            </a:fld>
            <a:endParaRPr lang="en-US"/>
          </a:p>
        </p:txBody>
      </p:sp>
    </p:spTree>
    <p:extLst>
      <p:ext uri="{BB962C8B-B14F-4D97-AF65-F5344CB8AC3E}">
        <p14:creationId xmlns:p14="http://schemas.microsoft.com/office/powerpoint/2010/main" val="432218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A04797-B579-40AF-8F83-E4702A9ED9FF}" type="datetimeFigureOut">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D9D178-02C0-4294-8602-787D7B816A54}" type="slidenum">
              <a:rPr lang="en-US" smtClean="0"/>
              <a:t>‹#›</a:t>
            </a:fld>
            <a:endParaRPr lang="en-US"/>
          </a:p>
        </p:txBody>
      </p:sp>
    </p:spTree>
    <p:extLst>
      <p:ext uri="{BB962C8B-B14F-4D97-AF65-F5344CB8AC3E}">
        <p14:creationId xmlns:p14="http://schemas.microsoft.com/office/powerpoint/2010/main" val="41838665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AA04797-B579-40AF-8F83-E4702A9ED9FF}" type="datetimeFigureOut">
              <a:rPr lang="en-US" smtClean="0"/>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D9D178-02C0-4294-8602-787D7B816A54}" type="slidenum">
              <a:rPr lang="en-US" smtClean="0"/>
              <a:t>‹#›</a:t>
            </a:fld>
            <a:endParaRPr lang="en-US"/>
          </a:p>
        </p:txBody>
      </p:sp>
    </p:spTree>
    <p:extLst>
      <p:ext uri="{BB962C8B-B14F-4D97-AF65-F5344CB8AC3E}">
        <p14:creationId xmlns:p14="http://schemas.microsoft.com/office/powerpoint/2010/main" val="3058865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AA04797-B579-40AF-8F83-E4702A9ED9FF}" type="datetimeFigureOut">
              <a:rPr lang="en-US" smtClean="0"/>
              <a:t>4/14/2026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9D9D178-02C0-4294-8602-787D7B816A54}" type="slidenum">
              <a:rPr lang="en-US" smtClean="0"/>
              <a:t>‹#›</a:t>
            </a:fld>
            <a:endParaRPr lang="en-US"/>
          </a:p>
        </p:txBody>
      </p:sp>
    </p:spTree>
    <p:extLst>
      <p:ext uri="{BB962C8B-B14F-4D97-AF65-F5344CB8AC3E}">
        <p14:creationId xmlns:p14="http://schemas.microsoft.com/office/powerpoint/2010/main" val="24801089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AA04797-B579-40AF-8F83-E4702A9ED9FF}" type="datetimeFigureOut">
              <a:rPr lang="en-US" smtClean="0"/>
              <a:t>4/14/2026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9D9D178-02C0-4294-8602-787D7B816A54}" type="slidenum">
              <a:rPr lang="en-US" smtClean="0"/>
              <a:t>‹#›</a:t>
            </a:fld>
            <a:endParaRPr lang="en-US"/>
          </a:p>
        </p:txBody>
      </p:sp>
    </p:spTree>
    <p:extLst>
      <p:ext uri="{BB962C8B-B14F-4D97-AF65-F5344CB8AC3E}">
        <p14:creationId xmlns:p14="http://schemas.microsoft.com/office/powerpoint/2010/main" val="31021953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AA04797-B579-40AF-8F83-E4702A9ED9FF}" type="datetimeFigureOut">
              <a:rPr lang="en-US" smtClean="0"/>
              <a:t>4/14/2026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9D9D178-02C0-4294-8602-787D7B816A54}" type="slidenum">
              <a:rPr lang="en-US" smtClean="0"/>
              <a:t>‹#›</a:t>
            </a:fld>
            <a:endParaRPr lang="en-US"/>
          </a:p>
        </p:txBody>
      </p:sp>
    </p:spTree>
    <p:extLst>
      <p:ext uri="{BB962C8B-B14F-4D97-AF65-F5344CB8AC3E}">
        <p14:creationId xmlns:p14="http://schemas.microsoft.com/office/powerpoint/2010/main" val="37660142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AA04797-B579-40AF-8F83-E4702A9ED9FF}" type="datetimeFigureOut">
              <a:rPr lang="en-US" smtClean="0"/>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D9D178-02C0-4294-8602-787D7B816A54}" type="slidenum">
              <a:rPr lang="en-US" smtClean="0"/>
              <a:t>‹#›</a:t>
            </a:fld>
            <a:endParaRPr lang="en-US"/>
          </a:p>
        </p:txBody>
      </p:sp>
    </p:spTree>
    <p:extLst>
      <p:ext uri="{BB962C8B-B14F-4D97-AF65-F5344CB8AC3E}">
        <p14:creationId xmlns:p14="http://schemas.microsoft.com/office/powerpoint/2010/main" val="31264524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AA04797-B579-40AF-8F83-E4702A9ED9FF}" type="datetimeFigureOut">
              <a:rPr lang="en-US" smtClean="0"/>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D9D178-02C0-4294-8602-787D7B816A54}" type="slidenum">
              <a:rPr lang="en-US" smtClean="0"/>
              <a:t>‹#›</a:t>
            </a:fld>
            <a:endParaRPr lang="en-US"/>
          </a:p>
        </p:txBody>
      </p:sp>
    </p:spTree>
    <p:extLst>
      <p:ext uri="{BB962C8B-B14F-4D97-AF65-F5344CB8AC3E}">
        <p14:creationId xmlns:p14="http://schemas.microsoft.com/office/powerpoint/2010/main" val="35011395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A04797-B579-40AF-8F83-E4702A9ED9FF}" type="datetimeFigureOut">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D9D178-02C0-4294-8602-787D7B816A54}" type="slidenum">
              <a:rPr lang="en-US" smtClean="0"/>
              <a:t>‹#›</a:t>
            </a:fld>
            <a:endParaRPr lang="en-US"/>
          </a:p>
        </p:txBody>
      </p:sp>
    </p:spTree>
    <p:extLst>
      <p:ext uri="{BB962C8B-B14F-4D97-AF65-F5344CB8AC3E}">
        <p14:creationId xmlns:p14="http://schemas.microsoft.com/office/powerpoint/2010/main" val="8702389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A04797-B579-40AF-8F83-E4702A9ED9FF}" type="datetimeFigureOut">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D9D178-02C0-4294-8602-787D7B816A54}" type="slidenum">
              <a:rPr lang="en-US" smtClean="0"/>
              <a:t>‹#›</a:t>
            </a:fld>
            <a:endParaRPr lang="en-US"/>
          </a:p>
        </p:txBody>
      </p:sp>
    </p:spTree>
    <p:extLst>
      <p:ext uri="{BB962C8B-B14F-4D97-AF65-F5344CB8AC3E}">
        <p14:creationId xmlns:p14="http://schemas.microsoft.com/office/powerpoint/2010/main" val="8576280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A04797-B579-40AF-8F83-E4702A9ED9FF}" type="datetimeFigureOut">
              <a:rPr lang="en-US" smtClean="0"/>
              <a:t>4/14/2026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D9D178-02C0-4294-8602-787D7B816A54}" type="slidenum">
              <a:rPr lang="en-US" smtClean="0"/>
              <a:t>‹#›</a:t>
            </a:fld>
            <a:endParaRPr lang="en-US"/>
          </a:p>
        </p:txBody>
      </p:sp>
    </p:spTree>
    <p:extLst>
      <p:ext uri="{BB962C8B-B14F-4D97-AF65-F5344CB8AC3E}">
        <p14:creationId xmlns:p14="http://schemas.microsoft.com/office/powerpoint/2010/main" val="303216601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0"/>
            <a:ext cx="9753600" cy="1752600"/>
          </a:xfrm>
        </p:spPr>
        <p:txBody>
          <a:bodyPr>
            <a:normAutofit/>
          </a:bodyPr>
          <a:lstStyle/>
          <a:p>
            <a:pPr algn="ctr"/>
            <a:r>
              <a:rPr lang="en-IN" sz="2000" dirty="0">
                <a:latin typeface="Times New Roman" panose="02020603050405020304" pitchFamily="18" charset="0"/>
                <a:cs typeface="Times New Roman" panose="02020603050405020304" pitchFamily="18" charset="0"/>
              </a:rPr>
              <a:t>A Project abstract presentation </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on</a:t>
            </a:r>
            <a:br>
              <a:rPr lang="en-IN" sz="2000" b="1" dirty="0">
                <a:latin typeface="Times New Roman" panose="02020603050405020304" pitchFamily="18" charset="0"/>
                <a:cs typeface="Times New Roman" panose="02020603050405020304" pitchFamily="18" charset="0"/>
              </a:rPr>
            </a:br>
            <a:r>
              <a:rPr lang="en-US" sz="2600" b="1" dirty="0">
                <a:latin typeface="Times New Roman" panose="02020603050405020304" pitchFamily="18" charset="0"/>
                <a:cs typeface="Times New Roman" panose="02020603050405020304" pitchFamily="18" charset="0"/>
              </a:rPr>
              <a:t>Intelligent Adaptive Traffic Signal Control Using Computer Vision with Emergency Vehicle Priority</a:t>
            </a:r>
            <a:endParaRPr lang="en-IN" sz="2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752600" y="5025683"/>
            <a:ext cx="4971447" cy="1524000"/>
          </a:xfrm>
        </p:spPr>
        <p:txBody>
          <a:bodyPr>
            <a:normAutofit fontScale="25000" lnSpcReduction="20000"/>
          </a:bodyPr>
          <a:lstStyle/>
          <a:p>
            <a:pPr marL="0" indent="0">
              <a:buNone/>
            </a:pPr>
            <a:endParaRPr lang="en-IN" sz="2000" b="1" dirty="0">
              <a:solidFill>
                <a:srgbClr val="0070C0"/>
              </a:solidFill>
              <a:latin typeface="Times New Roman" panose="02020603050405020304" pitchFamily="18" charset="0"/>
              <a:cs typeface="Times New Roman" panose="02020603050405020304" pitchFamily="18" charset="0"/>
            </a:endParaRPr>
          </a:p>
          <a:p>
            <a:pPr marL="0" indent="0">
              <a:buNone/>
            </a:pPr>
            <a:r>
              <a:rPr lang="en-IN" sz="8000" b="1" dirty="0">
                <a:solidFill>
                  <a:srgbClr val="0070C0"/>
                </a:solidFill>
                <a:latin typeface="Times New Roman" panose="02020603050405020304" pitchFamily="18" charset="0"/>
                <a:cs typeface="Times New Roman" panose="02020603050405020304" pitchFamily="18" charset="0"/>
              </a:rPr>
              <a:t>Under the guidance of		</a:t>
            </a:r>
            <a:endParaRPr lang="en-IN" sz="8000" b="1" dirty="0">
              <a:solidFill>
                <a:srgbClr val="C00000"/>
              </a:solidFill>
              <a:latin typeface="Times New Roman" panose="02020603050405020304" pitchFamily="18" charset="0"/>
              <a:cs typeface="Times New Roman" panose="02020603050405020304" pitchFamily="18" charset="0"/>
            </a:endParaRPr>
          </a:p>
          <a:p>
            <a:pPr marL="0" indent="0">
              <a:buNone/>
            </a:pPr>
            <a:r>
              <a:rPr lang="en-IN" sz="8000" b="1" dirty="0">
                <a:solidFill>
                  <a:srgbClr val="C00000"/>
                </a:solidFill>
                <a:latin typeface="Times New Roman" panose="02020603050405020304" pitchFamily="18" charset="0"/>
                <a:cs typeface="Times New Roman" panose="02020603050405020304" pitchFamily="18" charset="0"/>
              </a:rPr>
              <a:t>Mr. P. Yogendra Prasad,</a:t>
            </a:r>
          </a:p>
          <a:p>
            <a:pPr marL="0" indent="0">
              <a:buNone/>
            </a:pPr>
            <a:r>
              <a:rPr lang="en-IN" sz="8000" b="1" dirty="0">
                <a:solidFill>
                  <a:srgbClr val="C00000"/>
                </a:solidFill>
                <a:latin typeface="Times New Roman" panose="02020603050405020304" pitchFamily="18" charset="0"/>
                <a:cs typeface="Times New Roman" panose="02020603050405020304" pitchFamily="18" charset="0"/>
              </a:rPr>
              <a:t>Assistant Professor,</a:t>
            </a:r>
          </a:p>
          <a:p>
            <a:pPr marL="0" indent="0">
              <a:buNone/>
            </a:pPr>
            <a:r>
              <a:rPr lang="en-IN" sz="8000" b="1" dirty="0">
                <a:solidFill>
                  <a:srgbClr val="C00000"/>
                </a:solidFill>
                <a:latin typeface="Times New Roman" panose="02020603050405020304" pitchFamily="18" charset="0"/>
                <a:cs typeface="Times New Roman" panose="02020603050405020304" pitchFamily="18" charset="0"/>
              </a:rPr>
              <a:t>Dept. of Data Science.</a:t>
            </a:r>
          </a:p>
        </p:txBody>
      </p:sp>
      <p:sp>
        <p:nvSpPr>
          <p:cNvPr id="5" name="TextBox 4"/>
          <p:cNvSpPr txBox="1"/>
          <p:nvPr/>
        </p:nvSpPr>
        <p:spPr>
          <a:xfrm>
            <a:off x="1295400" y="1555877"/>
            <a:ext cx="9601200" cy="2092881"/>
          </a:xfrm>
          <a:prstGeom prst="rect">
            <a:avLst/>
          </a:prstGeom>
          <a:noFill/>
        </p:spPr>
        <p:txBody>
          <a:bodyPr wrap="square" rtlCol="0">
            <a:spAutoFit/>
          </a:bodyPr>
          <a:lstStyle/>
          <a:p>
            <a:pPr algn="ctr"/>
            <a:r>
              <a:rPr lang="en-IN" sz="2000" b="1" dirty="0">
                <a:solidFill>
                  <a:srgbClr val="C00000"/>
                </a:solidFill>
                <a:latin typeface="Times New Roman" panose="02020603050405020304" pitchFamily="18" charset="0"/>
                <a:cs typeface="Times New Roman" panose="02020603050405020304" pitchFamily="18" charset="0"/>
              </a:rPr>
              <a:t>Presented by Batch DS 1-14</a:t>
            </a:r>
          </a:p>
          <a:p>
            <a:pPr algn="ctr"/>
            <a:endParaRPr lang="en-IN" sz="1000" b="1" dirty="0">
              <a:solidFill>
                <a:schemeClr val="tx2"/>
              </a:solidFill>
              <a:latin typeface="Times New Roman" panose="02020603050405020304" pitchFamily="18" charset="0"/>
              <a:cs typeface="Times New Roman" panose="02020603050405020304" pitchFamily="18" charset="0"/>
            </a:endParaRPr>
          </a:p>
          <a:p>
            <a:pPr algn="ctr"/>
            <a:r>
              <a:rPr lang="en-IN" sz="2000" b="1" dirty="0">
                <a:solidFill>
                  <a:srgbClr val="C00000"/>
                </a:solidFill>
                <a:latin typeface="Times New Roman" panose="02020603050405020304" pitchFamily="18" charset="0"/>
                <a:cs typeface="Times New Roman" panose="02020603050405020304" pitchFamily="18" charset="0"/>
              </a:rPr>
              <a:t>	MANNURU TEJASWANI	              		22102A030059</a:t>
            </a:r>
          </a:p>
          <a:p>
            <a:pPr algn="ctr"/>
            <a:r>
              <a:rPr lang="en-IN" sz="2000" b="1" dirty="0">
                <a:solidFill>
                  <a:srgbClr val="C00000"/>
                </a:solidFill>
                <a:latin typeface="Times New Roman" panose="02020603050405020304" pitchFamily="18" charset="0"/>
                <a:cs typeface="Times New Roman" panose="02020603050405020304" pitchFamily="18" charset="0"/>
              </a:rPr>
              <a:t>	PANDETI GURU SAI RAJU	 			22102A030089</a:t>
            </a:r>
          </a:p>
          <a:p>
            <a:pPr algn="ctr"/>
            <a:r>
              <a:rPr lang="en-IN" sz="2000" b="1" dirty="0">
                <a:solidFill>
                  <a:srgbClr val="C00000"/>
                </a:solidFill>
                <a:latin typeface="Times New Roman" panose="02020603050405020304" pitchFamily="18" charset="0"/>
                <a:cs typeface="Times New Roman" panose="02020603050405020304" pitchFamily="18" charset="0"/>
              </a:rPr>
              <a:t>       BALIJE PALLI MEGHANA  		 	22102A030010</a:t>
            </a:r>
          </a:p>
          <a:p>
            <a:pPr algn="ctr"/>
            <a:r>
              <a:rPr lang="en-IN" sz="2000" b="1" dirty="0">
                <a:solidFill>
                  <a:srgbClr val="C00000"/>
                </a:solidFill>
                <a:latin typeface="Times New Roman" panose="02020603050405020304" pitchFamily="18" charset="0"/>
                <a:cs typeface="Times New Roman" panose="02020603050405020304" pitchFamily="18" charset="0"/>
              </a:rPr>
              <a:t>	NEELAPU HERAMBUDU		              22102A030080</a:t>
            </a:r>
          </a:p>
          <a:p>
            <a:r>
              <a:rPr lang="en-US" sz="2000" b="1" dirty="0">
                <a:solidFill>
                  <a:srgbClr val="FF0000"/>
                </a:solidFill>
                <a:latin typeface="Times New Roman" panose="02020603050405020304" pitchFamily="18" charset="0"/>
                <a:cs typeface="Times New Roman" panose="02020603050405020304" pitchFamily="18" charset="0"/>
              </a:rPr>
              <a:t> </a:t>
            </a:r>
          </a:p>
        </p:txBody>
      </p:sp>
      <p:sp>
        <p:nvSpPr>
          <p:cNvPr id="7" name="Rectangle 6"/>
          <p:cNvSpPr/>
          <p:nvPr/>
        </p:nvSpPr>
        <p:spPr>
          <a:xfrm>
            <a:off x="7239000" y="5204635"/>
            <a:ext cx="4191000" cy="1345048"/>
          </a:xfrm>
          <a:prstGeom prst="rect">
            <a:avLst/>
          </a:prstGeom>
        </p:spPr>
        <p:txBody>
          <a:bodyPr wrap="square">
            <a:spAutoFit/>
          </a:bodyPr>
          <a:lstStyle/>
          <a:p>
            <a:pPr defTabSz="914400">
              <a:lnSpc>
                <a:spcPct val="70000"/>
              </a:lnSpc>
              <a:spcBef>
                <a:spcPts val="1000"/>
              </a:spcBef>
            </a:pPr>
            <a:r>
              <a:rPr lang="en-IN" sz="2000" b="1" dirty="0">
                <a:solidFill>
                  <a:srgbClr val="0070C0"/>
                </a:solidFill>
                <a:latin typeface="Times New Roman" panose="02020603050405020304" pitchFamily="18" charset="0"/>
                <a:cs typeface="Times New Roman" panose="02020603050405020304" pitchFamily="18" charset="0"/>
              </a:rPr>
              <a:t>Program Head</a:t>
            </a:r>
          </a:p>
          <a:p>
            <a:pPr defTabSz="914400">
              <a:lnSpc>
                <a:spcPct val="70000"/>
              </a:lnSpc>
              <a:spcBef>
                <a:spcPts val="1000"/>
              </a:spcBef>
              <a:buClr>
                <a:srgbClr val="C00000"/>
              </a:buClr>
              <a:buSzPts val="2000"/>
            </a:pPr>
            <a:r>
              <a:rPr lang="en-GB" sz="2000" b="1" dirty="0">
                <a:solidFill>
                  <a:srgbClr val="C00000"/>
                </a:solidFill>
                <a:latin typeface="Times New Roman" panose="02020603050405020304" pitchFamily="18" charset="0"/>
                <a:cs typeface="Times New Roman" panose="02020603050405020304" pitchFamily="18" charset="0"/>
                <a:sym typeface="Times New Roman" panose="02020603050405020304"/>
              </a:rPr>
              <a:t>Dr. K. Reddy Madhavi,</a:t>
            </a:r>
          </a:p>
          <a:p>
            <a:pPr defTabSz="914400">
              <a:lnSpc>
                <a:spcPct val="70000"/>
              </a:lnSpc>
              <a:spcBef>
                <a:spcPts val="1000"/>
              </a:spcBef>
              <a:buClr>
                <a:srgbClr val="C00000"/>
              </a:buClr>
              <a:buSzPts val="2000"/>
            </a:pPr>
            <a:r>
              <a:rPr lang="en-GB" sz="2000" b="1" dirty="0">
                <a:solidFill>
                  <a:srgbClr val="C00000"/>
                </a:solidFill>
                <a:latin typeface="Times New Roman" panose="02020603050405020304" pitchFamily="18" charset="0"/>
                <a:cs typeface="Times New Roman" panose="02020603050405020304" pitchFamily="18" charset="0"/>
                <a:sym typeface="Times New Roman" panose="02020603050405020304"/>
              </a:rPr>
              <a:t>Professor &amp; Head, </a:t>
            </a:r>
          </a:p>
          <a:p>
            <a:pPr defTabSz="914400">
              <a:lnSpc>
                <a:spcPct val="70000"/>
              </a:lnSpc>
              <a:spcBef>
                <a:spcPts val="1000"/>
              </a:spcBef>
              <a:buClr>
                <a:srgbClr val="C00000"/>
              </a:buClr>
              <a:buSzPts val="2000"/>
            </a:pPr>
            <a:r>
              <a:rPr lang="en-GB" sz="2000" b="1" dirty="0">
                <a:solidFill>
                  <a:srgbClr val="C00000"/>
                </a:solidFill>
                <a:latin typeface="Times New Roman" panose="02020603050405020304" pitchFamily="18" charset="0"/>
                <a:cs typeface="Times New Roman" panose="02020603050405020304" pitchFamily="18" charset="0"/>
                <a:sym typeface="Times New Roman" panose="02020603050405020304"/>
              </a:rPr>
              <a:t>Dept. of Data Science.</a:t>
            </a:r>
          </a:p>
        </p:txBody>
      </p:sp>
      <p:sp>
        <p:nvSpPr>
          <p:cNvPr id="12" name="Rectangle 11"/>
          <p:cNvSpPr/>
          <p:nvPr/>
        </p:nvSpPr>
        <p:spPr>
          <a:xfrm>
            <a:off x="3274867" y="4533240"/>
            <a:ext cx="5642264" cy="492443"/>
          </a:xfrm>
          <a:prstGeom prst="rect">
            <a:avLst/>
          </a:prstGeom>
        </p:spPr>
        <p:txBody>
          <a:bodyPr wrap="square">
            <a:spAutoFit/>
          </a:bodyPr>
          <a:lstStyle/>
          <a:p>
            <a:pPr algn="ctr"/>
            <a:r>
              <a:rPr lang="en-IN" sz="2600" b="1" dirty="0">
                <a:solidFill>
                  <a:srgbClr val="00B050"/>
                </a:solidFill>
                <a:latin typeface="Times New Roman" panose="02020603050405020304" pitchFamily="18" charset="0"/>
                <a:cs typeface="Times New Roman" panose="02020603050405020304" pitchFamily="18" charset="0"/>
              </a:rPr>
              <a:t>Data Science</a:t>
            </a:r>
          </a:p>
        </p:txBody>
      </p:sp>
      <p:pic>
        <p:nvPicPr>
          <p:cNvPr id="4" name="Picture 2" descr="Logo">
            <a:extLst>
              <a:ext uri="{FF2B5EF4-FFF2-40B4-BE49-F238E27FC236}">
                <a16:creationId xmlns:a16="http://schemas.microsoft.com/office/drawing/2014/main" id="{8A70B4E1-65CB-3AFB-860A-258888E1BC48}"/>
              </a:ext>
            </a:extLst>
          </p:cNvPr>
          <p:cNvPicPr>
            <a:picLocks noChangeAspect="1" noChangeArrowheads="1"/>
          </p:cNvPicPr>
          <p:nvPr/>
        </p:nvPicPr>
        <p:blipFill>
          <a:blip r:embed="rId2"/>
          <a:srcRect/>
          <a:stretch>
            <a:fillRect/>
          </a:stretch>
        </p:blipFill>
        <p:spPr bwMode="auto">
          <a:xfrm>
            <a:off x="5141116" y="3454726"/>
            <a:ext cx="1909767" cy="954884"/>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2F7EA-6EFF-F8E6-7EF7-E0E0966D85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2EFC29-63E7-74CA-B30C-4122773AF340}"/>
              </a:ext>
            </a:extLst>
          </p:cNvPr>
          <p:cNvSpPr>
            <a:spLocks noGrp="1"/>
          </p:cNvSpPr>
          <p:nvPr>
            <p:ph type="title"/>
          </p:nvPr>
        </p:nvSpPr>
        <p:spPr>
          <a:xfrm>
            <a:off x="762000" y="228600"/>
            <a:ext cx="10515600" cy="1325563"/>
          </a:xfrm>
        </p:spPr>
        <p:txBody>
          <a:bodyPr>
            <a:normAutofit/>
          </a:bodyPr>
          <a:lstStyle/>
          <a:p>
            <a:pPr algn="ctr"/>
            <a:r>
              <a:rPr lang="en-IN" sz="3600" b="1" dirty="0">
                <a:solidFill>
                  <a:srgbClr val="FF0000"/>
                </a:solidFill>
                <a:latin typeface="Times New Roman" panose="02020603050405020304" pitchFamily="18" charset="0"/>
                <a:cs typeface="Times New Roman" panose="02020603050405020304" pitchFamily="18" charset="0"/>
              </a:rPr>
              <a:t>Contents</a:t>
            </a:r>
          </a:p>
        </p:txBody>
      </p:sp>
      <p:sp>
        <p:nvSpPr>
          <p:cNvPr id="5" name="Content Placeholder 4">
            <a:extLst>
              <a:ext uri="{FF2B5EF4-FFF2-40B4-BE49-F238E27FC236}">
                <a16:creationId xmlns:a16="http://schemas.microsoft.com/office/drawing/2014/main" id="{9BC83207-CBA1-F9AC-568F-97E3C464A30A}"/>
              </a:ext>
            </a:extLst>
          </p:cNvPr>
          <p:cNvSpPr>
            <a:spLocks noGrp="1"/>
          </p:cNvSpPr>
          <p:nvPr>
            <p:ph sz="half" idx="1"/>
          </p:nvPr>
        </p:nvSpPr>
        <p:spPr/>
        <p:txBody>
          <a:bodyPr>
            <a:normAutofit/>
          </a:bodyPr>
          <a:lstStyle/>
          <a:p>
            <a:pPr>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Abstract</a:t>
            </a:r>
            <a:endParaRPr lang="en-US" sz="18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Introduction</a:t>
            </a:r>
          </a:p>
          <a:p>
            <a:pPr>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Statement of the problem</a:t>
            </a:r>
          </a:p>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Objectives</a:t>
            </a:r>
          </a:p>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Motivation</a:t>
            </a:r>
          </a:p>
          <a:p>
            <a:pPr>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Literature survey/ Rival Methods  </a:t>
            </a:r>
          </a:p>
          <a:p>
            <a:pPr>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Limitations of existing methods </a:t>
            </a:r>
          </a:p>
          <a:p>
            <a:pPr>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Physical Model/ Network Model </a:t>
            </a:r>
          </a:p>
          <a:p>
            <a:pPr marL="0" indent="0">
              <a:lnSpc>
                <a:spcPct val="150000"/>
              </a:lnSpc>
              <a:buNone/>
            </a:pPr>
            <a:endParaRPr lang="en-IN" sz="1800"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A21FBD02-7794-8453-007B-39DD11A9665D}"/>
              </a:ext>
            </a:extLst>
          </p:cNvPr>
          <p:cNvSpPr>
            <a:spLocks noGrp="1"/>
          </p:cNvSpPr>
          <p:nvPr>
            <p:ph sz="half" idx="2"/>
          </p:nvPr>
        </p:nvSpPr>
        <p:spPr/>
        <p:txBody>
          <a:bodyPr>
            <a:normAutofit/>
          </a:bodyPr>
          <a:lstStyle/>
          <a:p>
            <a:pPr>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Proposed System/method/Algorithm </a:t>
            </a:r>
          </a:p>
          <a:p>
            <a:pPr marL="285750" indent="-285750">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Software and Hardware Requirements </a:t>
            </a:r>
          </a:p>
          <a:p>
            <a:pPr marL="285750" indent="-285750">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Simulation Model </a:t>
            </a:r>
          </a:p>
          <a:p>
            <a:pPr marL="285750" indent="-285750">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Performance Evaluation </a:t>
            </a:r>
          </a:p>
          <a:p>
            <a:pPr marL="285750" indent="-285750">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Analysis of Experimental Data</a:t>
            </a:r>
          </a:p>
          <a:p>
            <a:pPr marL="285750" indent="-285750">
              <a:lnSpc>
                <a:spcPct val="150000"/>
              </a:lnSpc>
              <a:buFont typeface="Wingdings" panose="05000000000000000000" pitchFamily="2" charset="2"/>
              <a:buChar char="Ø"/>
            </a:pPr>
            <a:endParaRPr lang="en-IN" sz="1800" dirty="0">
              <a:latin typeface="Times New Roman" panose="02020603050405020304" pitchFamily="18" charset="0"/>
              <a:cs typeface="Times New Roman" panose="02020603050405020304" pitchFamily="18" charset="0"/>
            </a:endParaRPr>
          </a:p>
          <a:p>
            <a:endParaRPr lang="en-IN" sz="1800" dirty="0"/>
          </a:p>
        </p:txBody>
      </p:sp>
      <p:sp>
        <p:nvSpPr>
          <p:cNvPr id="4" name="TextBox 3">
            <a:extLst>
              <a:ext uri="{FF2B5EF4-FFF2-40B4-BE49-F238E27FC236}">
                <a16:creationId xmlns:a16="http://schemas.microsoft.com/office/drawing/2014/main" id="{86CAC52B-AC2C-CD01-28C9-19B1C972BEEF}"/>
              </a:ext>
            </a:extLst>
          </p:cNvPr>
          <p:cNvSpPr txBox="1"/>
          <p:nvPr/>
        </p:nvSpPr>
        <p:spPr>
          <a:xfrm>
            <a:off x="6096000" y="609600"/>
            <a:ext cx="5564529" cy="458074"/>
          </a:xfrm>
          <a:prstGeom prst="rect">
            <a:avLst/>
          </a:prstGeom>
          <a:noFill/>
        </p:spPr>
        <p:txBody>
          <a:bodyPr wrap="square" rtlCol="0">
            <a:spAutoFit/>
          </a:bodyPr>
          <a:lstStyle/>
          <a:p>
            <a:pPr>
              <a:lnSpc>
                <a:spcPct val="150000"/>
              </a:lnSpc>
            </a:pPr>
            <a:r>
              <a:rPr lang="en-IN"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867926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0100" y="304800"/>
            <a:ext cx="10591800" cy="762000"/>
          </a:xfrm>
        </p:spPr>
        <p:txBody>
          <a:bodyPr>
            <a:normAutofit/>
          </a:bodyPr>
          <a:lstStyle/>
          <a:p>
            <a:pPr algn="ctr"/>
            <a:r>
              <a:rPr lang="en-IN" sz="3600" b="1" dirty="0">
                <a:solidFill>
                  <a:srgbClr val="FF0000"/>
                </a:solidFill>
                <a:latin typeface="Times New Roman" panose="02020603050405020304" pitchFamily="18" charset="0"/>
                <a:cs typeface="Times New Roman" panose="02020603050405020304" pitchFamily="18" charset="0"/>
              </a:rPr>
              <a:t>Abstract</a:t>
            </a:r>
            <a:endParaRPr sz="36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19150" y="1104900"/>
            <a:ext cx="10553700" cy="4648200"/>
          </a:xfrm>
        </p:spPr>
        <p:txBody>
          <a:bodyPr>
            <a:noAutofit/>
          </a:bodyPr>
          <a:lstStyle/>
          <a:p>
            <a:pPr marL="0" indent="0" algn="just">
              <a:lnSpc>
                <a:spcPct val="150000"/>
              </a:lnSpc>
              <a:buNone/>
            </a:pPr>
            <a:r>
              <a:rPr lang="en-US" sz="1700" dirty="0">
                <a:latin typeface="Times New Roman" panose="02020603050405020304" pitchFamily="18" charset="0"/>
                <a:cs typeface="Times New Roman" panose="02020603050405020304" pitchFamily="18" charset="0"/>
              </a:rPr>
              <a:t>	This project aims to design a Smart Traffic Light Control System that optimizes intersection signal timing using machine learning algorithms and vehicle counting techniques. Instead of relying on physical sensors, the system processes real-time video feeds to count vehicles at each lane of an intersection. By accurately determining vehicle density, the system dynamically adjusts signal phases and durations to accommodate changing traffic flows and minimize congestion. The core components include real-time video capture, vehicle detection and counting using computer vision algorithms, and adaptive signal control logic. The real-time analysis module processes video data to extract vehicle counts, which are then fed into machine learning models to predict short-term traffic demand. By coordinating signal timings across adjacent intersections, the system ensures smoother traffic flow, reduces unnecessary delays, and minimizes vehicle idling time. Beyond congestion reduction, this approach improves road safety, lowers emissions, and enhances overall transportation efficiency.</a:t>
            </a:r>
          </a:p>
          <a:p>
            <a:pPr marL="0" indent="0" algn="just">
              <a:lnSpc>
                <a:spcPct val="150000"/>
              </a:lnSpc>
              <a:buNone/>
            </a:pPr>
            <a:r>
              <a:rPr lang="en-US" sz="1700" b="1" dirty="0">
                <a:latin typeface="Times New Roman" panose="02020603050405020304" pitchFamily="18" charset="0"/>
                <a:cs typeface="Times New Roman" panose="02020603050405020304" pitchFamily="18" charset="0"/>
              </a:rPr>
              <a:t>Keywords</a:t>
            </a:r>
            <a:r>
              <a:rPr lang="en-US" sz="1700" dirty="0">
                <a:latin typeface="Times New Roman" panose="02020603050405020304" pitchFamily="18" charset="0"/>
                <a:cs typeface="Times New Roman" panose="02020603050405020304" pitchFamily="18" charset="0"/>
              </a:rPr>
              <a:t>: </a:t>
            </a:r>
            <a:r>
              <a:rPr lang="en-IN" sz="1700" dirty="0">
                <a:latin typeface="Times New Roman" panose="02020603050405020304" pitchFamily="18" charset="0"/>
                <a:cs typeface="Times New Roman" panose="02020603050405020304" pitchFamily="18" charset="0"/>
              </a:rPr>
              <a:t>Predictive Traffic Analysis,</a:t>
            </a:r>
            <a:r>
              <a:rPr lang="en-US" sz="1700" dirty="0">
                <a:latin typeface="Times New Roman" panose="02020603050405020304" pitchFamily="18" charset="0"/>
                <a:cs typeface="Times New Roman" panose="02020603050405020304" pitchFamily="18" charset="0"/>
              </a:rPr>
              <a:t> Smart Traffic Light Control, Real-Time Traffic Management, </a:t>
            </a:r>
            <a:r>
              <a:rPr lang="en-IN" sz="1700" dirty="0">
                <a:latin typeface="Times New Roman" panose="02020603050405020304" pitchFamily="18" charset="0"/>
                <a:cs typeface="Times New Roman" panose="02020603050405020304" pitchFamily="18" charset="0"/>
              </a:rPr>
              <a:t>Vehicle Detection, Computer Vision, Adaptive Signal Control, Traffic Congestion Reduction.</a:t>
            </a:r>
          </a:p>
          <a:p>
            <a:pPr algn="just">
              <a:buFont typeface="Wingdings" panose="05000000000000000000" pitchFamily="2" charset="2"/>
              <a:buChar char="Ø"/>
            </a:pPr>
            <a:endParaRPr lang="en-IN" sz="17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48619-7EB5-F13C-4E4D-3293EBE102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E5F948-E2C5-25EC-69BC-790A0330B4F4}"/>
              </a:ext>
            </a:extLst>
          </p:cNvPr>
          <p:cNvSpPr>
            <a:spLocks noGrp="1"/>
          </p:cNvSpPr>
          <p:nvPr>
            <p:ph type="title"/>
          </p:nvPr>
        </p:nvSpPr>
        <p:spPr>
          <a:xfrm>
            <a:off x="800100" y="304800"/>
            <a:ext cx="10591800" cy="762000"/>
          </a:xfrm>
        </p:spPr>
        <p:txBody>
          <a:bodyPr>
            <a:normAutofit/>
          </a:bodyPr>
          <a:lstStyle/>
          <a:p>
            <a:pPr algn="ctr"/>
            <a:r>
              <a:rPr lang="en-US" sz="3600" b="1" dirty="0">
                <a:solidFill>
                  <a:srgbClr val="FF0000"/>
                </a:solidFill>
                <a:latin typeface="Times New Roman" panose="02020603050405020304" pitchFamily="18" charset="0"/>
                <a:cs typeface="Times New Roman" panose="02020603050405020304" pitchFamily="18" charset="0"/>
              </a:rPr>
              <a:t>Introduction</a:t>
            </a:r>
          </a:p>
        </p:txBody>
      </p:sp>
      <p:sp>
        <p:nvSpPr>
          <p:cNvPr id="6" name="Rectangle 3">
            <a:extLst>
              <a:ext uri="{FF2B5EF4-FFF2-40B4-BE49-F238E27FC236}">
                <a16:creationId xmlns:a16="http://schemas.microsoft.com/office/drawing/2014/main" id="{3A99349A-A17F-3D07-0525-9E23EBC8CFBA}"/>
              </a:ext>
            </a:extLst>
          </p:cNvPr>
          <p:cNvSpPr>
            <a:spLocks noGrp="1" noChangeArrowheads="1"/>
          </p:cNvSpPr>
          <p:nvPr>
            <p:ph idx="1"/>
          </p:nvPr>
        </p:nvSpPr>
        <p:spPr bwMode="auto">
          <a:xfrm>
            <a:off x="781050" y="1166842"/>
            <a:ext cx="106299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lnSpc>
                <a:spcPct val="100000"/>
              </a:lnSpc>
              <a:spcBef>
                <a:spcPct val="0"/>
              </a:spcBef>
              <a:spcAft>
                <a:spcPct val="0"/>
              </a:spcAft>
              <a:buFont typeface="Wingdings" panose="05000000000000000000" pitchFamily="2" charset="2"/>
              <a:buChar char="Ø"/>
            </a:pPr>
            <a:r>
              <a:rPr lang="en-US" altLang="en-US" sz="1800" dirty="0">
                <a:latin typeface="Times New Roman" panose="02020603050405020304" pitchFamily="18" charset="0"/>
                <a:cs typeface="Times New Roman" panose="02020603050405020304" pitchFamily="18" charset="0"/>
              </a:rPr>
              <a:t>Traffic congestion has reached critical levels due to rapid urbanization and rising vehicle usage.</a:t>
            </a:r>
          </a:p>
          <a:p>
            <a:pPr lvl="0" algn="just" eaLnBrk="0" fontAlgn="base" hangingPunct="0">
              <a:lnSpc>
                <a:spcPct val="100000"/>
              </a:lnSpc>
              <a:spcBef>
                <a:spcPct val="0"/>
              </a:spcBef>
              <a:spcAft>
                <a:spcPct val="0"/>
              </a:spcAft>
              <a:buFont typeface="Wingdings" panose="05000000000000000000" pitchFamily="2" charset="2"/>
              <a:buChar char="Ø"/>
            </a:pPr>
            <a:endParaRPr lang="en-US" altLang="en-US" sz="1800" dirty="0">
              <a:latin typeface="Times New Roman" panose="02020603050405020304" pitchFamily="18" charset="0"/>
              <a:cs typeface="Times New Roman" panose="02020603050405020304" pitchFamily="18" charset="0"/>
            </a:endParaRPr>
          </a:p>
          <a:p>
            <a:pPr lvl="0" algn="just" eaLnBrk="0" fontAlgn="base" hangingPunct="0">
              <a:lnSpc>
                <a:spcPct val="100000"/>
              </a:lnSpc>
              <a:spcBef>
                <a:spcPct val="0"/>
              </a:spcBef>
              <a:spcAft>
                <a:spcPct val="0"/>
              </a:spcAft>
              <a:buFont typeface="Wingdings" panose="05000000000000000000" pitchFamily="2" charset="2"/>
              <a:buChar char="Ø"/>
            </a:pPr>
            <a:r>
              <a:rPr lang="en-US" altLang="en-US" sz="1800" dirty="0">
                <a:latin typeface="Times New Roman" panose="02020603050405020304" pitchFamily="18" charset="0"/>
                <a:cs typeface="Times New Roman" panose="02020603050405020304" pitchFamily="18" charset="0"/>
              </a:rPr>
              <a:t>Traditional fixed-time signals are inadequate for managing dynamic traffic flows.</a:t>
            </a:r>
          </a:p>
          <a:p>
            <a:pPr lvl="0" algn="just" eaLnBrk="0" fontAlgn="base" hangingPunct="0">
              <a:lnSpc>
                <a:spcPct val="100000"/>
              </a:lnSpc>
              <a:spcBef>
                <a:spcPct val="0"/>
              </a:spcBef>
              <a:spcAft>
                <a:spcPct val="0"/>
              </a:spcAft>
              <a:buFont typeface="Wingdings" panose="05000000000000000000" pitchFamily="2" charset="2"/>
              <a:buChar char="Ø"/>
            </a:pPr>
            <a:endParaRPr lang="en-US" altLang="en-US" sz="1800" dirty="0">
              <a:latin typeface="Times New Roman" panose="02020603050405020304" pitchFamily="18" charset="0"/>
              <a:cs typeface="Times New Roman" panose="02020603050405020304" pitchFamily="18" charset="0"/>
            </a:endParaRPr>
          </a:p>
          <a:p>
            <a:pPr lvl="0" algn="just" eaLnBrk="0" fontAlgn="base" hangingPunct="0">
              <a:lnSpc>
                <a:spcPct val="100000"/>
              </a:lnSpc>
              <a:spcBef>
                <a:spcPct val="0"/>
              </a:spcBef>
              <a:spcAft>
                <a:spcPct val="0"/>
              </a:spcAft>
              <a:buFont typeface="Wingdings" panose="05000000000000000000" pitchFamily="2" charset="2"/>
              <a:buChar char="Ø"/>
            </a:pPr>
            <a:r>
              <a:rPr lang="en-US" altLang="en-US" sz="1800" dirty="0">
                <a:latin typeface="Times New Roman" panose="02020603050405020304" pitchFamily="18" charset="0"/>
                <a:cs typeface="Times New Roman" panose="02020603050405020304" pitchFamily="18" charset="0"/>
              </a:rPr>
              <a:t>Real-time video analysis counts vehicles at intersections to cost-effective, accurate, no need for expensive infrastructure.</a:t>
            </a:r>
          </a:p>
          <a:p>
            <a:pPr lvl="0" algn="just" eaLnBrk="0" fontAlgn="base" hangingPunct="0">
              <a:lnSpc>
                <a:spcPct val="100000"/>
              </a:lnSpc>
              <a:spcBef>
                <a:spcPct val="0"/>
              </a:spcBef>
              <a:spcAft>
                <a:spcPct val="0"/>
              </a:spcAft>
              <a:buFont typeface="Wingdings" panose="05000000000000000000" pitchFamily="2" charset="2"/>
              <a:buChar char="Ø"/>
            </a:pPr>
            <a:endParaRPr lang="en-US" altLang="en-US" sz="1800" dirty="0">
              <a:latin typeface="Times New Roman" panose="02020603050405020304" pitchFamily="18" charset="0"/>
              <a:cs typeface="Times New Roman" panose="02020603050405020304" pitchFamily="18" charset="0"/>
            </a:endParaRPr>
          </a:p>
          <a:p>
            <a:pPr lvl="0" algn="just" eaLnBrk="0" fontAlgn="base" hangingPunct="0">
              <a:lnSpc>
                <a:spcPct val="100000"/>
              </a:lnSpc>
              <a:spcBef>
                <a:spcPct val="0"/>
              </a:spcBef>
              <a:spcAft>
                <a:spcPct val="0"/>
              </a:spcAft>
              <a:buFont typeface="Wingdings" panose="05000000000000000000" pitchFamily="2" charset="2"/>
              <a:buChar char="Ø"/>
            </a:pPr>
            <a:r>
              <a:rPr lang="en-US" altLang="en-US" sz="1800" dirty="0">
                <a:latin typeface="Times New Roman" panose="02020603050405020304" pitchFamily="18" charset="0"/>
                <a:cs typeface="Times New Roman" panose="02020603050405020304" pitchFamily="18" charset="0"/>
              </a:rPr>
              <a:t>Predictive analytics anticipates traffic patterns to optimizes signals before congestion occurs.</a:t>
            </a:r>
          </a:p>
          <a:p>
            <a:pPr lvl="0" algn="just" eaLnBrk="0" fontAlgn="base" hangingPunct="0">
              <a:lnSpc>
                <a:spcPct val="100000"/>
              </a:lnSpc>
              <a:spcBef>
                <a:spcPct val="0"/>
              </a:spcBef>
              <a:spcAft>
                <a:spcPct val="0"/>
              </a:spcAft>
              <a:buFont typeface="Wingdings" panose="05000000000000000000" pitchFamily="2" charset="2"/>
              <a:buChar char="Ø"/>
            </a:pPr>
            <a:endParaRPr lang="en-US" altLang="en-US" sz="1800" dirty="0">
              <a:latin typeface="Times New Roman" panose="02020603050405020304" pitchFamily="18" charset="0"/>
              <a:cs typeface="Times New Roman" panose="02020603050405020304" pitchFamily="18" charset="0"/>
            </a:endParaRPr>
          </a:p>
          <a:p>
            <a:pPr lvl="0" algn="just" eaLnBrk="0" fontAlgn="base" hangingPunct="0">
              <a:lnSpc>
                <a:spcPct val="100000"/>
              </a:lnSpc>
              <a:spcBef>
                <a:spcPct val="0"/>
              </a:spcBef>
              <a:spcAft>
                <a:spcPct val="0"/>
              </a:spcAft>
              <a:buFont typeface="Wingdings" panose="05000000000000000000" pitchFamily="2" charset="2"/>
              <a:buChar char="Ø"/>
            </a:pPr>
            <a:r>
              <a:rPr lang="en-US" altLang="en-US" sz="1800" dirty="0">
                <a:latin typeface="Times New Roman" panose="02020603050405020304" pitchFamily="18" charset="0"/>
                <a:cs typeface="Times New Roman" panose="02020603050405020304" pitchFamily="18" charset="0"/>
              </a:rPr>
              <a:t>Emergency vehicle priority ensures faster ambulance and fire service response.</a:t>
            </a:r>
          </a:p>
          <a:p>
            <a:pPr lvl="0" algn="just" eaLnBrk="0" fontAlgn="base" hangingPunct="0">
              <a:lnSpc>
                <a:spcPct val="100000"/>
              </a:lnSpc>
              <a:spcBef>
                <a:spcPct val="0"/>
              </a:spcBef>
              <a:spcAft>
                <a:spcPct val="0"/>
              </a:spcAft>
              <a:buFont typeface="Wingdings" panose="05000000000000000000" pitchFamily="2" charset="2"/>
              <a:buChar char="Ø"/>
            </a:pPr>
            <a:endParaRPr lang="en-US" altLang="en-US" sz="1800" dirty="0">
              <a:latin typeface="Times New Roman" panose="02020603050405020304" pitchFamily="18" charset="0"/>
              <a:cs typeface="Times New Roman" panose="02020603050405020304" pitchFamily="18" charset="0"/>
            </a:endParaRPr>
          </a:p>
          <a:p>
            <a:pPr lvl="0" algn="just" eaLnBrk="0" fontAlgn="base" hangingPunct="0">
              <a:lnSpc>
                <a:spcPct val="100000"/>
              </a:lnSpc>
              <a:spcBef>
                <a:spcPct val="0"/>
              </a:spcBef>
              <a:spcAft>
                <a:spcPct val="0"/>
              </a:spcAft>
              <a:buFont typeface="Wingdings" panose="05000000000000000000" pitchFamily="2" charset="2"/>
              <a:buChar char="Ø"/>
            </a:pPr>
            <a:r>
              <a:rPr lang="en-US" altLang="en-US" sz="1800" dirty="0">
                <a:latin typeface="Times New Roman" panose="02020603050405020304" pitchFamily="18" charset="0"/>
                <a:cs typeface="Times New Roman" panose="02020603050405020304" pitchFamily="18" charset="0"/>
              </a:rPr>
              <a:t>Reduced idle time &amp; fuel consumption to lowers carbon emissions, improves air quality.</a:t>
            </a:r>
          </a:p>
          <a:p>
            <a:pPr lvl="0" algn="just" eaLnBrk="0" fontAlgn="base" hangingPunct="0">
              <a:lnSpc>
                <a:spcPct val="100000"/>
              </a:lnSpc>
              <a:spcBef>
                <a:spcPct val="0"/>
              </a:spcBef>
              <a:spcAft>
                <a:spcPct val="0"/>
              </a:spcAft>
              <a:buFont typeface="Wingdings" panose="05000000000000000000" pitchFamily="2" charset="2"/>
              <a:buChar char="Ø"/>
            </a:pPr>
            <a:endParaRPr lang="en-US" altLang="en-US" sz="1800" dirty="0">
              <a:latin typeface="Times New Roman" panose="02020603050405020304" pitchFamily="18" charset="0"/>
              <a:cs typeface="Times New Roman" panose="02020603050405020304" pitchFamily="18" charset="0"/>
            </a:endParaRPr>
          </a:p>
          <a:p>
            <a:pPr lvl="0" algn="just" eaLnBrk="0" fontAlgn="base" hangingPunct="0">
              <a:lnSpc>
                <a:spcPct val="100000"/>
              </a:lnSpc>
              <a:spcBef>
                <a:spcPct val="0"/>
              </a:spcBef>
              <a:spcAft>
                <a:spcPct val="0"/>
              </a:spcAft>
              <a:buFont typeface="Wingdings" panose="05000000000000000000" pitchFamily="2" charset="2"/>
              <a:buChar char="Ø"/>
            </a:pPr>
            <a:r>
              <a:rPr lang="en-US" altLang="en-US" sz="1800" dirty="0">
                <a:latin typeface="Times New Roman" panose="02020603050405020304" pitchFamily="18" charset="0"/>
                <a:cs typeface="Times New Roman" panose="02020603050405020304" pitchFamily="18" charset="0"/>
              </a:rPr>
              <a:t>Cost-effective and scalable to adaptable to different urban environments.</a:t>
            </a:r>
          </a:p>
          <a:p>
            <a:pPr lvl="0" algn="just" eaLnBrk="0" fontAlgn="base" hangingPunct="0">
              <a:lnSpc>
                <a:spcPct val="100000"/>
              </a:lnSpc>
              <a:spcBef>
                <a:spcPct val="0"/>
              </a:spcBef>
              <a:spcAft>
                <a:spcPct val="0"/>
              </a:spcAft>
              <a:buFont typeface="Wingdings" panose="05000000000000000000" pitchFamily="2" charset="2"/>
              <a:buChar char="Ø"/>
            </a:pPr>
            <a:endParaRPr lang="en-US" altLang="en-US" sz="1800" dirty="0">
              <a:latin typeface="Times New Roman" panose="02020603050405020304" pitchFamily="18" charset="0"/>
              <a:cs typeface="Times New Roman" panose="02020603050405020304" pitchFamily="18" charset="0"/>
            </a:endParaRPr>
          </a:p>
          <a:p>
            <a:pPr lvl="0" algn="just" eaLnBrk="0" fontAlgn="base" hangingPunct="0">
              <a:lnSpc>
                <a:spcPct val="100000"/>
              </a:lnSpc>
              <a:spcBef>
                <a:spcPct val="0"/>
              </a:spcBef>
              <a:spcAft>
                <a:spcPct val="0"/>
              </a:spcAft>
              <a:buFont typeface="Wingdings" panose="05000000000000000000" pitchFamily="2" charset="2"/>
              <a:buChar char="Ø"/>
            </a:pPr>
            <a:r>
              <a:rPr lang="en-US" altLang="en-US" sz="1800" dirty="0">
                <a:latin typeface="Times New Roman" panose="02020603050405020304" pitchFamily="18" charset="0"/>
                <a:cs typeface="Times New Roman" panose="02020603050405020304" pitchFamily="18" charset="0"/>
              </a:rPr>
              <a:t>Supports smart cities to foundation for future autonomous and connected vehicle ecosystems.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029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88E39-0714-A513-B235-CAEB98685C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EA19BD-0CC7-2A17-2336-657BFCF93909}"/>
              </a:ext>
            </a:extLst>
          </p:cNvPr>
          <p:cNvSpPr>
            <a:spLocks noGrp="1"/>
          </p:cNvSpPr>
          <p:nvPr>
            <p:ph type="title"/>
          </p:nvPr>
        </p:nvSpPr>
        <p:spPr>
          <a:xfrm>
            <a:off x="762000" y="228600"/>
            <a:ext cx="10591800" cy="762000"/>
          </a:xfrm>
        </p:spPr>
        <p:txBody>
          <a:bodyPr>
            <a:normAutofit/>
          </a:bodyPr>
          <a:lstStyle/>
          <a:p>
            <a:pPr algn="ctr"/>
            <a:r>
              <a:rPr lang="en-US" sz="3600" b="1" dirty="0">
                <a:solidFill>
                  <a:srgbClr val="FF0000"/>
                </a:solidFill>
                <a:latin typeface="Times New Roman" panose="02020603050405020304" pitchFamily="18" charset="0"/>
                <a:cs typeface="Times New Roman" panose="02020603050405020304" pitchFamily="18" charset="0"/>
              </a:rPr>
              <a:t> </a:t>
            </a:r>
          </a:p>
        </p:txBody>
      </p:sp>
      <p:pic>
        <p:nvPicPr>
          <p:cNvPr id="4" name="Content Placeholder 3">
            <a:extLst>
              <a:ext uri="{FF2B5EF4-FFF2-40B4-BE49-F238E27FC236}">
                <a16:creationId xmlns:a16="http://schemas.microsoft.com/office/drawing/2014/main" id="{6008BF2A-DD15-3176-B353-D854F4DFC89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2819400" y="152400"/>
            <a:ext cx="6553200" cy="655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798273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11317-A5DE-EFE8-332A-997239C433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40CD10-BCA2-2B07-AEED-40F992255168}"/>
              </a:ext>
            </a:extLst>
          </p:cNvPr>
          <p:cNvSpPr>
            <a:spLocks noGrp="1"/>
          </p:cNvSpPr>
          <p:nvPr>
            <p:ph type="title"/>
          </p:nvPr>
        </p:nvSpPr>
        <p:spPr>
          <a:xfrm>
            <a:off x="800100" y="342900"/>
            <a:ext cx="10591800" cy="762000"/>
          </a:xfrm>
        </p:spPr>
        <p:txBody>
          <a:bodyPr>
            <a:normAutofit/>
          </a:bodyPr>
          <a:lstStyle/>
          <a:p>
            <a:pPr algn="ctr"/>
            <a:r>
              <a:rPr lang="en-IN" sz="3600" b="1" dirty="0">
                <a:solidFill>
                  <a:srgbClr val="FF0000"/>
                </a:solidFill>
                <a:latin typeface="Times New Roman" panose="02020603050405020304" pitchFamily="18" charset="0"/>
                <a:cs typeface="Times New Roman" panose="02020603050405020304" pitchFamily="18" charset="0"/>
              </a:rPr>
              <a:t>Statement of the problem</a:t>
            </a:r>
            <a:endParaRPr sz="36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A182284-AD58-92D4-CDDF-66B09976D0F6}"/>
              </a:ext>
            </a:extLst>
          </p:cNvPr>
          <p:cNvSpPr>
            <a:spLocks noGrp="1"/>
          </p:cNvSpPr>
          <p:nvPr>
            <p:ph idx="1"/>
          </p:nvPr>
        </p:nvSpPr>
        <p:spPr>
          <a:xfrm>
            <a:off x="800100" y="1104900"/>
            <a:ext cx="10591800" cy="4648200"/>
          </a:xfrm>
        </p:spPr>
        <p:txBody>
          <a:bodyPr>
            <a:noAutofit/>
          </a:bodyPr>
          <a:lstStyle/>
          <a:p>
            <a:pPr marL="0" indent="0" algn="just">
              <a:lnSpc>
                <a:spcPct val="150000"/>
              </a:lnSpc>
              <a:buNone/>
            </a:pPr>
            <a:r>
              <a:rPr lang="en-US" sz="1800" dirty="0">
                <a:latin typeface="Times New Roman" panose="02020603050405020304" pitchFamily="18" charset="0"/>
                <a:cs typeface="Times New Roman" panose="02020603050405020304" pitchFamily="18" charset="0"/>
              </a:rPr>
              <a:t>	An intelligent system that leverages AI, real-time data, and predictive analytics to dynamically control traffic signals, reduce congestion, prioritize emergency vehicles, lower fuel consumption, and create a scalable solution for smart and sustainable urban mobility.</a:t>
            </a:r>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Existing traffic systems rely on static signal timings and limited prediction models.</a:t>
            </a:r>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Fail to capture </a:t>
            </a:r>
            <a:r>
              <a:rPr lang="en-US" sz="1800" dirty="0" err="1">
                <a:latin typeface="Times New Roman" panose="02020603050405020304" pitchFamily="18" charset="0"/>
                <a:cs typeface="Times New Roman" panose="02020603050405020304" pitchFamily="18" charset="0"/>
              </a:rPr>
              <a:t>spacio</a:t>
            </a:r>
            <a:r>
              <a:rPr lang="en-US" sz="1800" dirty="0">
                <a:latin typeface="Times New Roman" panose="02020603050405020304" pitchFamily="18" charset="0"/>
                <a:cs typeface="Times New Roman" panose="02020603050405020304" pitchFamily="18" charset="0"/>
              </a:rPr>
              <a:t>-temporal dependencies.</a:t>
            </a:r>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Lack adaptability to external factors (weather, holidays).</a:t>
            </a:r>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Struggle with scalability in multi-intersection city networks.</a:t>
            </a:r>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These challenges demand an intelligent, adaptive framework for smart city traffic.</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339471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84F4E-8DE8-73C0-04A1-B2EC76D827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FF5E28-EC72-A1B1-27BB-22F8C8DE847A}"/>
              </a:ext>
            </a:extLst>
          </p:cNvPr>
          <p:cNvSpPr>
            <a:spLocks noGrp="1"/>
          </p:cNvSpPr>
          <p:nvPr>
            <p:ph type="title"/>
          </p:nvPr>
        </p:nvSpPr>
        <p:spPr>
          <a:xfrm>
            <a:off x="800100" y="381000"/>
            <a:ext cx="10591800" cy="762000"/>
          </a:xfrm>
        </p:spPr>
        <p:txBody>
          <a:bodyPr>
            <a:noAutofit/>
          </a:bodyPr>
          <a:lstStyle/>
          <a:p>
            <a:pPr algn="ctr"/>
            <a:r>
              <a:rPr lang="en-IN" sz="3600" b="1" dirty="0">
                <a:solidFill>
                  <a:srgbClr val="FF0000"/>
                </a:solidFill>
                <a:latin typeface="Times New Roman" panose="02020603050405020304" pitchFamily="18" charset="0"/>
                <a:cs typeface="Times New Roman" panose="02020603050405020304" pitchFamily="18" charset="0"/>
              </a:rPr>
              <a:t>Motivation</a:t>
            </a:r>
            <a:endParaRPr sz="36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DF150A9-C7F8-4ABE-D6C3-B9C5B02E2CD6}"/>
              </a:ext>
            </a:extLst>
          </p:cNvPr>
          <p:cNvSpPr>
            <a:spLocks noGrp="1"/>
          </p:cNvSpPr>
          <p:nvPr>
            <p:ph idx="1"/>
          </p:nvPr>
        </p:nvSpPr>
        <p:spPr>
          <a:xfrm>
            <a:off x="800100" y="1219200"/>
            <a:ext cx="10591800" cy="3886200"/>
          </a:xfrm>
        </p:spPr>
        <p:txBody>
          <a:bodyPr>
            <a:noAutofit/>
          </a:bodyPr>
          <a:lstStyle/>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Traffic congestion affects urban mobility, fuel efficiency, and environment.</a:t>
            </a:r>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Traditional systems fail during peak hours or </a:t>
            </a:r>
          </a:p>
          <a:p>
            <a:pPr marL="0" indent="0" algn="just">
              <a:lnSpc>
                <a:spcPct val="150000"/>
              </a:lnSpc>
              <a:buNone/>
            </a:pPr>
            <a:r>
              <a:rPr lang="en-US" sz="1800" dirty="0">
                <a:latin typeface="Times New Roman" panose="02020603050405020304" pitchFamily="18" charset="0"/>
                <a:cs typeface="Times New Roman" panose="02020603050405020304" pitchFamily="18" charset="0"/>
              </a:rPr>
              <a:t>    unexpected events.</a:t>
            </a:r>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An AI-driven solution ensures:</a:t>
            </a:r>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Better urban mobility</a:t>
            </a:r>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Sustainability</a:t>
            </a:r>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Smart city development alignment</a:t>
            </a:r>
            <a:endParaRPr lang="en-IN" sz="1800" dirty="0">
              <a:latin typeface="Times New Roman" panose="02020603050405020304" pitchFamily="18" charset="0"/>
              <a:cs typeface="Times New Roman" panose="02020603050405020304" pitchFamily="18" charset="0"/>
            </a:endParaRPr>
          </a:p>
        </p:txBody>
      </p:sp>
      <p:pic>
        <p:nvPicPr>
          <p:cNvPr id="2050" name="Picture 2">
            <a:extLst>
              <a:ext uri="{FF2B5EF4-FFF2-40B4-BE49-F238E27FC236}">
                <a16:creationId xmlns:a16="http://schemas.microsoft.com/office/drawing/2014/main" id="{D6C4E6C5-7398-1889-E1FE-D5BB987D693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48400" y="1953986"/>
            <a:ext cx="4800600" cy="3200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52799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B42B4-49D0-A659-3206-8F106E7BD6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C8FD84-C0DA-3298-5C6A-1BFBE5A8643D}"/>
              </a:ext>
            </a:extLst>
          </p:cNvPr>
          <p:cNvSpPr>
            <a:spLocks noGrp="1"/>
          </p:cNvSpPr>
          <p:nvPr>
            <p:ph type="title"/>
          </p:nvPr>
        </p:nvSpPr>
        <p:spPr>
          <a:xfrm>
            <a:off x="800100" y="381000"/>
            <a:ext cx="10591800" cy="762000"/>
          </a:xfrm>
        </p:spPr>
        <p:txBody>
          <a:bodyPr>
            <a:normAutofit/>
          </a:bodyPr>
          <a:lstStyle/>
          <a:p>
            <a:pPr algn="ctr"/>
            <a:r>
              <a:rPr lang="en-IN" sz="3600" b="1" dirty="0">
                <a:solidFill>
                  <a:srgbClr val="FF0000"/>
                </a:solidFill>
                <a:latin typeface="Times New Roman" panose="02020603050405020304" pitchFamily="18" charset="0"/>
                <a:cs typeface="Times New Roman" panose="02020603050405020304" pitchFamily="18" charset="0"/>
              </a:rPr>
              <a:t>Objectives</a:t>
            </a:r>
            <a:endParaRPr sz="36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6BF19B8-49C9-6C47-C659-01074DA2AE87}"/>
              </a:ext>
            </a:extLst>
          </p:cNvPr>
          <p:cNvSpPr>
            <a:spLocks noGrp="1"/>
          </p:cNvSpPr>
          <p:nvPr>
            <p:ph idx="1"/>
          </p:nvPr>
        </p:nvSpPr>
        <p:spPr>
          <a:xfrm>
            <a:off x="800100" y="1371600"/>
            <a:ext cx="10553700" cy="4648200"/>
          </a:xfrm>
        </p:spPr>
        <p:txBody>
          <a:bodyPr>
            <a:noAutofit/>
          </a:bodyPr>
          <a:lstStyle/>
          <a:p>
            <a:pPr algn="just">
              <a:lnSpc>
                <a:spcPct val="100000"/>
              </a:lnSpc>
              <a:spcBef>
                <a:spcPts val="0"/>
              </a:spcBef>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To design and develop a four-way intelligent traffic signal simulation using Python and </a:t>
            </a:r>
            <a:r>
              <a:rPr lang="en-US" sz="1800" dirty="0" err="1">
                <a:latin typeface="Times New Roman" panose="02020603050405020304" pitchFamily="18" charset="0"/>
                <a:cs typeface="Times New Roman" panose="02020603050405020304" pitchFamily="18" charset="0"/>
              </a:rPr>
              <a:t>Pygame</a:t>
            </a:r>
            <a:r>
              <a:rPr lang="en-US" sz="1800" dirty="0">
                <a:latin typeface="Times New Roman" panose="02020603050405020304" pitchFamily="18" charset="0"/>
                <a:cs typeface="Times New Roman" panose="02020603050405020304" pitchFamily="18" charset="0"/>
              </a:rPr>
              <a:t> that models real-world traffic behavior.</a:t>
            </a:r>
          </a:p>
          <a:p>
            <a:pPr marL="0" indent="0" algn="just">
              <a:lnSpc>
                <a:spcPct val="100000"/>
              </a:lnSpc>
              <a:spcBef>
                <a:spcPts val="0"/>
              </a:spcBef>
              <a:buNone/>
            </a:pPr>
            <a:endParaRPr lang="en-US" sz="1800" dirty="0">
              <a:latin typeface="Times New Roman" panose="02020603050405020304" pitchFamily="18" charset="0"/>
              <a:cs typeface="Times New Roman" panose="02020603050405020304" pitchFamily="18" charset="0"/>
            </a:endParaRPr>
          </a:p>
          <a:p>
            <a:pPr algn="just">
              <a:lnSpc>
                <a:spcPct val="100000"/>
              </a:lnSpc>
              <a:spcBef>
                <a:spcPts val="0"/>
              </a:spcBef>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To simulate multiple vehicle types (car, bus, truck, bike,</a:t>
            </a:r>
          </a:p>
          <a:p>
            <a:pPr marL="0" indent="0" algn="just">
              <a:lnSpc>
                <a:spcPct val="100000"/>
              </a:lnSpc>
              <a:spcBef>
                <a:spcPts val="0"/>
              </a:spcBef>
              <a:buNone/>
            </a:pPr>
            <a:r>
              <a:rPr lang="en-US" sz="1800" dirty="0">
                <a:latin typeface="Times New Roman" panose="02020603050405020304" pitchFamily="18" charset="0"/>
                <a:cs typeface="Times New Roman" panose="02020603050405020304" pitchFamily="18" charset="0"/>
              </a:rPr>
              <a:t>    rickshaw, and ambulance) with lane-based movement, </a:t>
            </a:r>
          </a:p>
          <a:p>
            <a:pPr marL="0" indent="0" algn="just">
              <a:lnSpc>
                <a:spcPct val="100000"/>
              </a:lnSpc>
              <a:spcBef>
                <a:spcPts val="0"/>
              </a:spcBef>
              <a:buNone/>
            </a:pPr>
            <a:r>
              <a:rPr lang="en-US" sz="1800" dirty="0">
                <a:latin typeface="Times New Roman" panose="02020603050405020304" pitchFamily="18" charset="0"/>
                <a:cs typeface="Times New Roman" panose="02020603050405020304" pitchFamily="18" charset="0"/>
              </a:rPr>
              <a:t>    stopping rules, and turning logic.</a:t>
            </a:r>
          </a:p>
          <a:p>
            <a:pPr algn="just">
              <a:lnSpc>
                <a:spcPct val="100000"/>
              </a:lnSpc>
              <a:spcBef>
                <a:spcPts val="0"/>
              </a:spcBef>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lgn="just">
              <a:lnSpc>
                <a:spcPct val="100000"/>
              </a:lnSpc>
              <a:spcBef>
                <a:spcPts val="0"/>
              </a:spcBef>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To implement adaptive traffic signal control by dynamically </a:t>
            </a:r>
          </a:p>
          <a:p>
            <a:pPr marL="0" indent="0" algn="just">
              <a:lnSpc>
                <a:spcPct val="100000"/>
              </a:lnSpc>
              <a:spcBef>
                <a:spcPts val="0"/>
              </a:spcBef>
              <a:buNone/>
            </a:pPr>
            <a:r>
              <a:rPr lang="en-US" sz="1800" dirty="0">
                <a:latin typeface="Times New Roman" panose="02020603050405020304" pitchFamily="18" charset="0"/>
                <a:cs typeface="Times New Roman" panose="02020603050405020304" pitchFamily="18" charset="0"/>
              </a:rPr>
              <a:t>    calculating green signal duration based on vehicle density </a:t>
            </a:r>
          </a:p>
          <a:p>
            <a:pPr marL="0" indent="0" algn="just">
              <a:lnSpc>
                <a:spcPct val="100000"/>
              </a:lnSpc>
              <a:spcBef>
                <a:spcPts val="0"/>
              </a:spcBef>
              <a:buNone/>
            </a:pPr>
            <a:r>
              <a:rPr lang="en-US" sz="1800" dirty="0">
                <a:latin typeface="Times New Roman" panose="02020603050405020304" pitchFamily="18" charset="0"/>
                <a:cs typeface="Times New Roman" panose="02020603050405020304" pitchFamily="18" charset="0"/>
              </a:rPr>
              <a:t>    and lane occupancy.</a:t>
            </a:r>
          </a:p>
          <a:p>
            <a:pPr algn="just">
              <a:lnSpc>
                <a:spcPct val="100000"/>
              </a:lnSpc>
              <a:spcBef>
                <a:spcPts val="0"/>
              </a:spcBef>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lgn="just">
              <a:lnSpc>
                <a:spcPct val="100000"/>
              </a:lnSpc>
              <a:spcBef>
                <a:spcPts val="0"/>
              </a:spcBef>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To prioritize emergency vehicles (ambulances) by detecting their presence, interrupting the normal signal sequence, and allocating a dedicated green signal for safe and fast passage.</a:t>
            </a:r>
          </a:p>
          <a:p>
            <a:pPr marL="0" indent="0" algn="just">
              <a:lnSpc>
                <a:spcPct val="100000"/>
              </a:lnSpc>
              <a:spcBef>
                <a:spcPts val="0"/>
              </a:spcBef>
              <a:buNone/>
            </a:pPr>
            <a:endParaRPr lang="en-US" sz="1800" dirty="0">
              <a:latin typeface="Times New Roman" panose="02020603050405020304" pitchFamily="18" charset="0"/>
              <a:cs typeface="Times New Roman" panose="02020603050405020304" pitchFamily="18" charset="0"/>
            </a:endParaRPr>
          </a:p>
          <a:p>
            <a:pPr algn="just">
              <a:lnSpc>
                <a:spcPct val="100000"/>
              </a:lnSpc>
              <a:spcBef>
                <a:spcPts val="0"/>
              </a:spcBef>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To integrate a YOLO-based vehicle detection module for identifying vehicles from images, supporting real-time traffic density estimation.</a:t>
            </a:r>
            <a:endParaRPr lang="en-IN" sz="1800" dirty="0">
              <a:latin typeface="Times New Roman" panose="02020603050405020304" pitchFamily="18" charset="0"/>
              <a:cs typeface="Times New Roman" panose="02020603050405020304" pitchFamily="18" charset="0"/>
            </a:endParaRPr>
          </a:p>
        </p:txBody>
      </p:sp>
      <p:pic>
        <p:nvPicPr>
          <p:cNvPr id="10" name="Picture 9" descr="A traffic jam on a street&#10;&#10;AI-generated content may be incorrect.">
            <a:extLst>
              <a:ext uri="{FF2B5EF4-FFF2-40B4-BE49-F238E27FC236}">
                <a16:creationId xmlns:a16="http://schemas.microsoft.com/office/drawing/2014/main" id="{2B1CE977-AFB4-A70C-3B76-A844B874408F}"/>
              </a:ext>
            </a:extLst>
          </p:cNvPr>
          <p:cNvPicPr>
            <a:picLocks noChangeAspect="1"/>
          </p:cNvPicPr>
          <p:nvPr/>
        </p:nvPicPr>
        <p:blipFill>
          <a:blip r:embed="rId2"/>
          <a:stretch>
            <a:fillRect/>
          </a:stretch>
        </p:blipFill>
        <p:spPr>
          <a:xfrm>
            <a:off x="6705600" y="1981200"/>
            <a:ext cx="4572000" cy="2286000"/>
          </a:xfrm>
          <a:prstGeom prst="rect">
            <a:avLst/>
          </a:prstGeom>
        </p:spPr>
      </p:pic>
    </p:spTree>
    <p:extLst>
      <p:ext uri="{BB962C8B-B14F-4D97-AF65-F5344CB8AC3E}">
        <p14:creationId xmlns:p14="http://schemas.microsoft.com/office/powerpoint/2010/main" val="2637469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8A9C2-B113-6493-98FD-B1C23F4183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98E6B4-5675-130B-1F0A-76A404E47349}"/>
              </a:ext>
            </a:extLst>
          </p:cNvPr>
          <p:cNvSpPr>
            <a:spLocks noGrp="1"/>
          </p:cNvSpPr>
          <p:nvPr>
            <p:ph type="title"/>
          </p:nvPr>
        </p:nvSpPr>
        <p:spPr>
          <a:xfrm>
            <a:off x="800100" y="381000"/>
            <a:ext cx="10591800" cy="762000"/>
          </a:xfrm>
        </p:spPr>
        <p:txBody>
          <a:bodyPr>
            <a:noAutofit/>
          </a:bodyPr>
          <a:lstStyle/>
          <a:p>
            <a:pPr algn="ctr"/>
            <a:r>
              <a:rPr lang="en-IN" sz="3600" b="1" dirty="0">
                <a:solidFill>
                  <a:srgbClr val="FF0000"/>
                </a:solidFill>
                <a:latin typeface="Times New Roman" panose="02020603050405020304" pitchFamily="18" charset="0"/>
                <a:cs typeface="Times New Roman" panose="02020603050405020304" pitchFamily="18" charset="0"/>
              </a:rPr>
              <a:t>Literature Survey</a:t>
            </a:r>
            <a:endParaRPr sz="3600" b="1" dirty="0">
              <a:solidFill>
                <a:srgbClr val="FF0000"/>
              </a:solidFill>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8B75A577-5E5D-5980-BB79-CF2CC69976B4}"/>
              </a:ext>
            </a:extLst>
          </p:cNvPr>
          <p:cNvSpPr>
            <a:spLocks noGrp="1" noChangeArrowheads="1"/>
          </p:cNvSpPr>
          <p:nvPr>
            <p:ph idx="1"/>
          </p:nvPr>
        </p:nvSpPr>
        <p:spPr bwMode="auto">
          <a:xfrm>
            <a:off x="800100" y="1143000"/>
            <a:ext cx="10629470" cy="5028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Traditional traffic signal systems use fixed-time signal control, where green durations are pre-defined based on historical averages.</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Actuated traffic systems use loop detectors or sensors to detect vehicle presence but lack prediction capability.</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Image-processing-based systems detect vehicles using basic computer vision techniques without adaptive scheduling.</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AI-based approaches include:</a:t>
            </a: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Machine learning for traffic density estimation</a:t>
            </a: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Reinforcement learning for adaptive signal control</a:t>
            </a: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Deep learning models for traffic flow prediction</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Most existing methods focus on either vehicle detection OR signal control, not both in an integrated manner.</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Some recent systems use IOT-based smart signals, but they depend heavily on continuous internet connectivity.</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US" altLang="en-US" sz="1800" dirty="0">
                <a:latin typeface="Times New Roman" panose="02020603050405020304" pitchFamily="18" charset="0"/>
                <a:cs typeface="Times New Roman" panose="02020603050405020304" pitchFamily="18" charset="0"/>
              </a:rPr>
              <a:t>Centralized traffic management approaches may cause single-point failure if the control server crashes.</a:t>
            </a: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82335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D5D6C-BFFA-A3C1-1831-CA6C2EF121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59E15B-5809-E4D0-6757-B6816DCA2099}"/>
              </a:ext>
            </a:extLst>
          </p:cNvPr>
          <p:cNvSpPr>
            <a:spLocks noGrp="1"/>
          </p:cNvSpPr>
          <p:nvPr>
            <p:ph type="title"/>
          </p:nvPr>
        </p:nvSpPr>
        <p:spPr>
          <a:xfrm>
            <a:off x="800100" y="381000"/>
            <a:ext cx="10591800" cy="762000"/>
          </a:xfrm>
        </p:spPr>
        <p:txBody>
          <a:bodyPr>
            <a:noAutofit/>
          </a:bodyPr>
          <a:lstStyle/>
          <a:p>
            <a:pPr algn="ctr"/>
            <a:r>
              <a:rPr lang="en-IN" sz="3600" b="1" dirty="0">
                <a:solidFill>
                  <a:srgbClr val="FF0000"/>
                </a:solidFill>
                <a:latin typeface="Times New Roman" panose="02020603050405020304" pitchFamily="18" charset="0"/>
                <a:cs typeface="Times New Roman" panose="02020603050405020304" pitchFamily="18" charset="0"/>
              </a:rPr>
              <a:t>Limitations of Existing Methods</a:t>
            </a:r>
            <a:endParaRPr sz="3600" b="1" dirty="0">
              <a:solidFill>
                <a:srgbClr val="FF0000"/>
              </a:solidFill>
              <a:latin typeface="Times New Roman" panose="02020603050405020304" pitchFamily="18" charset="0"/>
              <a:cs typeface="Times New Roman" panose="02020603050405020304" pitchFamily="18" charset="0"/>
            </a:endParaRPr>
          </a:p>
        </p:txBody>
      </p:sp>
      <p:sp>
        <p:nvSpPr>
          <p:cNvPr id="4" name="Rectangle 2">
            <a:extLst>
              <a:ext uri="{FF2B5EF4-FFF2-40B4-BE49-F238E27FC236}">
                <a16:creationId xmlns:a16="http://schemas.microsoft.com/office/drawing/2014/main" id="{5B044D3A-D89E-F12F-74F7-AEC549289FD6}"/>
              </a:ext>
            </a:extLst>
          </p:cNvPr>
          <p:cNvSpPr>
            <a:spLocks noGrp="1" noChangeArrowheads="1"/>
          </p:cNvSpPr>
          <p:nvPr>
            <p:ph idx="1"/>
          </p:nvPr>
        </p:nvSpPr>
        <p:spPr bwMode="auto">
          <a:xfrm>
            <a:off x="800100" y="1122471"/>
            <a:ext cx="10705241" cy="46130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Fixed-time signals cannot adapt to real-time traffic variations.</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Sensor-based systems require costly infrastructure and frequent maintenance.</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Many systems do not prioritize emergency vehicles, causing delays.</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Existing AI models:</a:t>
            </a: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Require large datasets</a:t>
            </a: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Are computationally expensive</a:t>
            </a:r>
          </a:p>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Are difficult to deploy in real-time environments</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Lack of fairness: some lanes may experience starvation during peak hours.</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Poor scalability for multi-lane urban intersections.</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lang="en-US" altLang="en-US" sz="1800" dirty="0">
                <a:latin typeface="Times New Roman" panose="02020603050405020304" pitchFamily="18" charset="0"/>
                <a:cs typeface="Times New Roman" panose="02020603050405020304" pitchFamily="18" charset="0"/>
              </a:rPr>
              <a:t>Most systems lack real-time visualization, making monitoring and debugging difficult.</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Emergency vehicle handling is often manual or rule-based, leading to delayed response.</a:t>
            </a:r>
          </a:p>
        </p:txBody>
      </p:sp>
    </p:spTree>
    <p:extLst>
      <p:ext uri="{BB962C8B-B14F-4D97-AF65-F5344CB8AC3E}">
        <p14:creationId xmlns:p14="http://schemas.microsoft.com/office/powerpoint/2010/main" val="37757720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99259-8506-14C9-9EFD-3A4C76E99B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F47871-A2C7-D73B-C668-AB3C30BDE232}"/>
              </a:ext>
            </a:extLst>
          </p:cNvPr>
          <p:cNvSpPr>
            <a:spLocks noGrp="1"/>
          </p:cNvSpPr>
          <p:nvPr>
            <p:ph type="title"/>
          </p:nvPr>
        </p:nvSpPr>
        <p:spPr>
          <a:xfrm>
            <a:off x="800101" y="228600"/>
            <a:ext cx="10591800" cy="762000"/>
          </a:xfrm>
        </p:spPr>
        <p:txBody>
          <a:bodyPr>
            <a:noAutofit/>
          </a:bodyPr>
          <a:lstStyle/>
          <a:p>
            <a:pPr algn="ctr"/>
            <a:r>
              <a:rPr lang="en-IN" sz="3600" b="1" dirty="0">
                <a:solidFill>
                  <a:srgbClr val="FF0000"/>
                </a:solidFill>
                <a:latin typeface="Times New Roman" panose="02020603050405020304" pitchFamily="18" charset="0"/>
                <a:cs typeface="Times New Roman" panose="02020603050405020304" pitchFamily="18" charset="0"/>
              </a:rPr>
              <a:t>Physical Model</a:t>
            </a:r>
            <a:endParaRPr sz="3600" b="1" dirty="0">
              <a:solidFill>
                <a:srgbClr val="FF0000"/>
              </a:solidFill>
              <a:latin typeface="Times New Roman" panose="02020603050405020304" pitchFamily="18" charset="0"/>
              <a:cs typeface="Times New Roman" panose="02020603050405020304" pitchFamily="18" charset="0"/>
            </a:endParaRPr>
          </a:p>
        </p:txBody>
      </p:sp>
      <p:sp>
        <p:nvSpPr>
          <p:cNvPr id="4" name="Rectangle 2">
            <a:extLst>
              <a:ext uri="{FF2B5EF4-FFF2-40B4-BE49-F238E27FC236}">
                <a16:creationId xmlns:a16="http://schemas.microsoft.com/office/drawing/2014/main" id="{2C3C711E-BC90-808F-0BF2-D47D76BD27A8}"/>
              </a:ext>
            </a:extLst>
          </p:cNvPr>
          <p:cNvSpPr>
            <a:spLocks noGrp="1" noChangeArrowheads="1"/>
          </p:cNvSpPr>
          <p:nvPr>
            <p:ph idx="1"/>
          </p:nvPr>
        </p:nvSpPr>
        <p:spPr bwMode="auto">
          <a:xfrm>
            <a:off x="800099" y="900499"/>
            <a:ext cx="10648521" cy="5618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system models a four-way road intersection with multiple lanes.</a:t>
            </a:r>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Each direction contains:</a:t>
            </a:r>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Two regular lanes, One dedicated bike/light vehicle lane</a:t>
            </a:r>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Vehicles are represented as moving agents with:</a:t>
            </a:r>
          </a:p>
          <a:p>
            <a:pPr marL="0" indent="0" algn="just">
              <a:lnSpc>
                <a:spcPct val="100000"/>
              </a:lnSpc>
              <a:buNone/>
            </a:pPr>
            <a:r>
              <a:rPr lang="en-US" sz="1800" dirty="0">
                <a:latin typeface="Times New Roman" panose="02020603050405020304" pitchFamily="18" charset="0"/>
                <a:cs typeface="Times New Roman" panose="02020603050405020304" pitchFamily="18" charset="0"/>
              </a:rPr>
              <a:t>       1) Speed</a:t>
            </a:r>
          </a:p>
          <a:p>
            <a:pPr marL="0" indent="0" algn="just">
              <a:lnSpc>
                <a:spcPct val="100000"/>
              </a:lnSpc>
              <a:buNone/>
            </a:pPr>
            <a:r>
              <a:rPr lang="en-US" sz="1800" dirty="0">
                <a:latin typeface="Times New Roman" panose="02020603050405020304" pitchFamily="18" charset="0"/>
                <a:cs typeface="Times New Roman" panose="02020603050405020304" pitchFamily="18" charset="0"/>
              </a:rPr>
              <a:t>       2) Direction</a:t>
            </a:r>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Traffic signals operate in red, yellow, and green phases.</a:t>
            </a:r>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Emergency vehicles (ambulance) are detected and given priority access.</a:t>
            </a:r>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Communication between components occurs through a central signal controller.</a:t>
            </a:r>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intersection is modeled using a centralized control unit that manages all signals.</a:t>
            </a:r>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Vehicle movement follows lane-based constraints, mimicking real-world road behavior.</a:t>
            </a:r>
          </a:p>
        </p:txBody>
      </p:sp>
    </p:spTree>
    <p:extLst>
      <p:ext uri="{BB962C8B-B14F-4D97-AF65-F5344CB8AC3E}">
        <p14:creationId xmlns:p14="http://schemas.microsoft.com/office/powerpoint/2010/main" val="21200620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1932D-7437-1345-16C3-5B15D69AEE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B961BA-394E-1276-F6B4-490E8210DA84}"/>
              </a:ext>
            </a:extLst>
          </p:cNvPr>
          <p:cNvSpPr>
            <a:spLocks noGrp="1"/>
          </p:cNvSpPr>
          <p:nvPr>
            <p:ph type="title"/>
          </p:nvPr>
        </p:nvSpPr>
        <p:spPr>
          <a:xfrm>
            <a:off x="800099" y="228600"/>
            <a:ext cx="10591800" cy="762000"/>
          </a:xfrm>
        </p:spPr>
        <p:txBody>
          <a:bodyPr>
            <a:noAutofit/>
          </a:bodyPr>
          <a:lstStyle/>
          <a:p>
            <a:pPr algn="ctr"/>
            <a:r>
              <a:rPr lang="en-IN" sz="3600" b="1" dirty="0">
                <a:solidFill>
                  <a:srgbClr val="FF0000"/>
                </a:solidFill>
                <a:latin typeface="Times New Roman" panose="02020603050405020304" pitchFamily="18" charset="0"/>
                <a:cs typeface="Times New Roman" panose="02020603050405020304" pitchFamily="18" charset="0"/>
              </a:rPr>
              <a:t>Proposed System</a:t>
            </a:r>
            <a:endParaRPr sz="3600" b="1" dirty="0">
              <a:solidFill>
                <a:srgbClr val="FF0000"/>
              </a:solidFill>
              <a:latin typeface="Times New Roman" panose="02020603050405020304" pitchFamily="18" charset="0"/>
              <a:cs typeface="Times New Roman" panose="02020603050405020304" pitchFamily="18" charset="0"/>
            </a:endParaRPr>
          </a:p>
        </p:txBody>
      </p:sp>
      <p:sp>
        <p:nvSpPr>
          <p:cNvPr id="4" name="Rectangle 2">
            <a:extLst>
              <a:ext uri="{FF2B5EF4-FFF2-40B4-BE49-F238E27FC236}">
                <a16:creationId xmlns:a16="http://schemas.microsoft.com/office/drawing/2014/main" id="{87FEC916-92DA-8B16-4553-C94E57DF0D48}"/>
              </a:ext>
            </a:extLst>
          </p:cNvPr>
          <p:cNvSpPr>
            <a:spLocks noGrp="1" noChangeArrowheads="1"/>
          </p:cNvSpPr>
          <p:nvPr>
            <p:ph idx="1"/>
          </p:nvPr>
        </p:nvSpPr>
        <p:spPr bwMode="auto">
          <a:xfrm>
            <a:off x="805542" y="990600"/>
            <a:ext cx="10648521" cy="57467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proposed system uses a simulation-based adaptive traffic signal controller.</a:t>
            </a:r>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Vehicle density is dynamically calculated by counting vehicles waiting at each signal.</a:t>
            </a:r>
          </a:p>
          <a:p>
            <a:pPr algn="just">
              <a:lnSpc>
                <a:spcPct val="10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Green signal duration is computed based on:</a:t>
            </a:r>
          </a:p>
          <a:p>
            <a:pPr marL="0" indent="0" algn="just">
              <a:lnSpc>
                <a:spcPct val="100000"/>
              </a:lnSpc>
              <a:buNone/>
            </a:pPr>
            <a:r>
              <a:rPr lang="en-US" sz="1800" dirty="0">
                <a:latin typeface="Times New Roman" panose="02020603050405020304" pitchFamily="18" charset="0"/>
                <a:cs typeface="Times New Roman" panose="02020603050405020304" pitchFamily="18" charset="0"/>
              </a:rPr>
              <a:t>         Lane density, Minimum and maximum time constraints</a:t>
            </a:r>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An emergency detection mechanism identifies ambulances before the stop line.</a:t>
            </a:r>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Emergency lanes are served immediately while preserving fairness.</a:t>
            </a:r>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After emergency handling, the system returns to normal round-robin scheduling.</a:t>
            </a:r>
          </a:p>
          <a:p>
            <a:pPr algn="just">
              <a:lnSpc>
                <a:spcPct val="10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system ensures:</a:t>
            </a:r>
          </a:p>
          <a:p>
            <a:pPr marL="0" indent="0" algn="just">
              <a:lnSpc>
                <a:spcPct val="100000"/>
              </a:lnSpc>
              <a:buNone/>
            </a:pPr>
            <a:r>
              <a:rPr lang="en-US" sz="1800" dirty="0">
                <a:latin typeface="Times New Roman" panose="02020603050405020304" pitchFamily="18" charset="0"/>
                <a:cs typeface="Times New Roman" panose="02020603050405020304" pitchFamily="18" charset="0"/>
              </a:rPr>
              <a:t>         Reduced waiting time</a:t>
            </a:r>
          </a:p>
          <a:p>
            <a:pPr marL="0" indent="0" algn="just">
              <a:lnSpc>
                <a:spcPct val="100000"/>
              </a:lnSpc>
              <a:buNone/>
            </a:pPr>
            <a:r>
              <a:rPr lang="en-US" sz="1800" dirty="0">
                <a:latin typeface="Times New Roman" panose="02020603050405020304" pitchFamily="18" charset="0"/>
                <a:cs typeface="Times New Roman" panose="02020603050405020304" pitchFamily="18" charset="0"/>
              </a:rPr>
              <a:t>         Emergency vehicle prioritization</a:t>
            </a:r>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algorithm dynamically switches between normal mode and emergency mode.</a:t>
            </a:r>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A queue-based mechanism ensures orderly handling of multiple emergency requests.</a:t>
            </a:r>
          </a:p>
        </p:txBody>
      </p:sp>
    </p:spTree>
    <p:extLst>
      <p:ext uri="{BB962C8B-B14F-4D97-AF65-F5344CB8AC3E}">
        <p14:creationId xmlns:p14="http://schemas.microsoft.com/office/powerpoint/2010/main" val="795842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90887-A5C9-63DB-BB9A-C1089B133D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11DD5C-F5B2-AFAE-4419-2FB5787E5982}"/>
              </a:ext>
            </a:extLst>
          </p:cNvPr>
          <p:cNvSpPr>
            <a:spLocks noGrp="1"/>
          </p:cNvSpPr>
          <p:nvPr>
            <p:ph type="title"/>
          </p:nvPr>
        </p:nvSpPr>
        <p:spPr/>
        <p:txBody>
          <a:bodyPr>
            <a:noAutofit/>
          </a:bodyPr>
          <a:lstStyle/>
          <a:p>
            <a:pPr algn="ctr"/>
            <a:r>
              <a:rPr lang="en-IN" sz="3600" b="1" dirty="0">
                <a:solidFill>
                  <a:srgbClr val="FF0000"/>
                </a:solidFill>
                <a:latin typeface="Times New Roman" panose="02020603050405020304" pitchFamily="18" charset="0"/>
                <a:cs typeface="Times New Roman" panose="02020603050405020304" pitchFamily="18" charset="0"/>
              </a:rPr>
              <a:t>Software and Hardware Requirements</a:t>
            </a:r>
            <a:endParaRPr sz="3600" b="1" dirty="0">
              <a:solidFill>
                <a:srgbClr val="FF0000"/>
              </a:solidFill>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7734F22D-4704-59D6-C536-EEE4691D4567}"/>
              </a:ext>
            </a:extLst>
          </p:cNvPr>
          <p:cNvSpPr>
            <a:spLocks noGrp="1"/>
          </p:cNvSpPr>
          <p:nvPr>
            <p:ph type="body" idx="1"/>
          </p:nvPr>
        </p:nvSpPr>
        <p:spPr/>
        <p:txBody>
          <a:bodyPr anchor="ctr">
            <a:normAutofit/>
          </a:bodyPr>
          <a:lstStyle/>
          <a:p>
            <a:pPr algn="ctr"/>
            <a:r>
              <a:rPr lang="en-IN" dirty="0">
                <a:latin typeface="Times New Roman" panose="02020603050405020304" pitchFamily="18" charset="0"/>
                <a:cs typeface="Times New Roman" panose="02020603050405020304" pitchFamily="18" charset="0"/>
              </a:rPr>
              <a:t>Software Requirements</a:t>
            </a:r>
            <a:endParaRPr lang="en-IN" dirty="0"/>
          </a:p>
        </p:txBody>
      </p:sp>
      <p:sp>
        <p:nvSpPr>
          <p:cNvPr id="4" name="Rectangle 2">
            <a:extLst>
              <a:ext uri="{FF2B5EF4-FFF2-40B4-BE49-F238E27FC236}">
                <a16:creationId xmlns:a16="http://schemas.microsoft.com/office/drawing/2014/main" id="{00D944A2-4AB2-BAB7-588F-2BD0ABE5AB93}"/>
              </a:ext>
            </a:extLst>
          </p:cNvPr>
          <p:cNvSpPr>
            <a:spLocks noGrp="1" noChangeArrowheads="1"/>
          </p:cNvSpPr>
          <p:nvPr>
            <p:ph sz="half" idx="2"/>
          </p:nvPr>
        </p:nvSpPr>
        <p:spPr bwMode="auto">
          <a:xfrm>
            <a:off x="839788" y="2615356"/>
            <a:ext cx="5157787" cy="346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buFont typeface="Wingdings" panose="05000000000000000000" pitchFamily="2" charset="2"/>
              <a:buChar char="Ø"/>
            </a:pPr>
            <a:r>
              <a:rPr lang="en-IN" sz="1800" dirty="0" err="1">
                <a:latin typeface="Times New Roman" panose="02020603050405020304" pitchFamily="18" charset="0"/>
                <a:cs typeface="Times New Roman" panose="02020603050405020304" pitchFamily="18" charset="0"/>
              </a:rPr>
              <a:t>Pygame</a:t>
            </a:r>
            <a:r>
              <a:rPr lang="en-IN" sz="1800" dirty="0">
                <a:latin typeface="Times New Roman" panose="02020603050405020304" pitchFamily="18" charset="0"/>
                <a:cs typeface="Times New Roman" panose="02020603050405020304" pitchFamily="18" charset="0"/>
              </a:rPr>
              <a:t> (for simulation and visualization)</a:t>
            </a:r>
          </a:p>
          <a:p>
            <a:pPr algn="just">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Standard Python libraries:</a:t>
            </a:r>
          </a:p>
          <a:p>
            <a:pPr marL="800100" lvl="1" indent="-342900" algn="just">
              <a:lnSpc>
                <a:spcPct val="150000"/>
              </a:lnSpc>
              <a:buFont typeface="+mj-lt"/>
              <a:buAutoNum type="arabicParenR"/>
            </a:pPr>
            <a:r>
              <a:rPr lang="en-IN" sz="1800" dirty="0">
                <a:latin typeface="Times New Roman" panose="02020603050405020304" pitchFamily="18" charset="0"/>
                <a:cs typeface="Times New Roman" panose="02020603050405020304" pitchFamily="18" charset="0"/>
              </a:rPr>
              <a:t>threading</a:t>
            </a:r>
          </a:p>
          <a:p>
            <a:pPr marL="800100" lvl="1" indent="-342900" algn="just">
              <a:lnSpc>
                <a:spcPct val="150000"/>
              </a:lnSpc>
              <a:buFont typeface="+mj-lt"/>
              <a:buAutoNum type="arabicParenR"/>
            </a:pPr>
            <a:r>
              <a:rPr lang="en-IN" sz="1800" dirty="0">
                <a:latin typeface="Times New Roman" panose="02020603050405020304" pitchFamily="18" charset="0"/>
                <a:cs typeface="Times New Roman" panose="02020603050405020304" pitchFamily="18" charset="0"/>
              </a:rPr>
              <a:t>math</a:t>
            </a:r>
          </a:p>
          <a:p>
            <a:pPr marL="800100" lvl="1" indent="-342900" algn="just">
              <a:lnSpc>
                <a:spcPct val="150000"/>
              </a:lnSpc>
              <a:buFont typeface="+mj-lt"/>
              <a:buAutoNum type="arabicParenR"/>
            </a:pPr>
            <a:r>
              <a:rPr lang="en-IN" sz="1800" dirty="0">
                <a:latin typeface="Times New Roman" panose="02020603050405020304" pitchFamily="18" charset="0"/>
                <a:cs typeface="Times New Roman" panose="02020603050405020304" pitchFamily="18" charset="0"/>
              </a:rPr>
              <a:t>random</a:t>
            </a:r>
          </a:p>
          <a:p>
            <a:pPr algn="just">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Operating System:</a:t>
            </a:r>
          </a:p>
          <a:p>
            <a:pPr marL="800100" lvl="1" indent="-342900" algn="just">
              <a:lnSpc>
                <a:spcPct val="150000"/>
              </a:lnSpc>
              <a:buFont typeface="+mj-lt"/>
              <a:buAutoNum type="arabicPeriod"/>
            </a:pPr>
            <a:r>
              <a:rPr lang="en-IN" sz="1800" dirty="0">
                <a:latin typeface="Times New Roman" panose="02020603050405020304" pitchFamily="18" charset="0"/>
                <a:cs typeface="Times New Roman" panose="02020603050405020304" pitchFamily="18" charset="0"/>
              </a:rPr>
              <a:t>Windows / Linux / macOS</a:t>
            </a:r>
          </a:p>
        </p:txBody>
      </p:sp>
      <p:sp>
        <p:nvSpPr>
          <p:cNvPr id="6" name="Text Placeholder 5">
            <a:extLst>
              <a:ext uri="{FF2B5EF4-FFF2-40B4-BE49-F238E27FC236}">
                <a16:creationId xmlns:a16="http://schemas.microsoft.com/office/drawing/2014/main" id="{9922D72D-04AB-8D3C-ECEE-17F6351F9077}"/>
              </a:ext>
            </a:extLst>
          </p:cNvPr>
          <p:cNvSpPr>
            <a:spLocks noGrp="1"/>
          </p:cNvSpPr>
          <p:nvPr>
            <p:ph type="body" sz="quarter" idx="3"/>
          </p:nvPr>
        </p:nvSpPr>
        <p:spPr/>
        <p:txBody>
          <a:bodyPr anchor="ctr"/>
          <a:lstStyle/>
          <a:p>
            <a:pPr algn="ctr"/>
            <a:r>
              <a:rPr lang="en-IN" dirty="0">
                <a:latin typeface="Times New Roman" panose="02020603050405020304" pitchFamily="18" charset="0"/>
                <a:cs typeface="Times New Roman" panose="02020603050405020304" pitchFamily="18" charset="0"/>
              </a:rPr>
              <a:t>Hardware Requirements</a:t>
            </a:r>
          </a:p>
        </p:txBody>
      </p:sp>
      <p:sp>
        <p:nvSpPr>
          <p:cNvPr id="7" name="Content Placeholder 6">
            <a:extLst>
              <a:ext uri="{FF2B5EF4-FFF2-40B4-BE49-F238E27FC236}">
                <a16:creationId xmlns:a16="http://schemas.microsoft.com/office/drawing/2014/main" id="{05373477-42E7-922E-7414-87F6DBAD0A38}"/>
              </a:ext>
            </a:extLst>
          </p:cNvPr>
          <p:cNvSpPr>
            <a:spLocks noGrp="1"/>
          </p:cNvSpPr>
          <p:nvPr>
            <p:ph sz="quarter" idx="4"/>
          </p:nvPr>
        </p:nvSpPr>
        <p:spPr>
          <a:xfrm>
            <a:off x="6172200" y="2666999"/>
            <a:ext cx="5183188" cy="3522663"/>
          </a:xfrm>
        </p:spPr>
        <p:txBody>
          <a:bodyPr>
            <a:normAutofit/>
          </a:bodyPr>
          <a:lstStyle/>
          <a:p>
            <a:pPr algn="just">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Minimum 4 GB RAM</a:t>
            </a:r>
          </a:p>
          <a:p>
            <a:pPr algn="just">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Intel i3 or higher processor</a:t>
            </a:r>
          </a:p>
          <a:p>
            <a:pPr algn="just">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Standard display for visualization</a:t>
            </a:r>
            <a:endParaRPr lang="en-IN" sz="1800" dirty="0"/>
          </a:p>
        </p:txBody>
      </p:sp>
    </p:spTree>
    <p:extLst>
      <p:ext uri="{BB962C8B-B14F-4D97-AF65-F5344CB8AC3E}">
        <p14:creationId xmlns:p14="http://schemas.microsoft.com/office/powerpoint/2010/main" val="3504948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65E93-B526-EDAD-7E31-FA76816031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6ABD26-CC78-52CB-7A57-D319BCCC8C78}"/>
              </a:ext>
            </a:extLst>
          </p:cNvPr>
          <p:cNvSpPr>
            <a:spLocks noGrp="1"/>
          </p:cNvSpPr>
          <p:nvPr>
            <p:ph type="title"/>
          </p:nvPr>
        </p:nvSpPr>
        <p:spPr>
          <a:xfrm>
            <a:off x="800100" y="228600"/>
            <a:ext cx="10591800" cy="762000"/>
          </a:xfrm>
        </p:spPr>
        <p:txBody>
          <a:bodyPr>
            <a:noAutofit/>
          </a:bodyPr>
          <a:lstStyle/>
          <a:p>
            <a:pPr algn="ctr"/>
            <a:r>
              <a:rPr lang="en-IN" sz="3600" b="1" dirty="0">
                <a:solidFill>
                  <a:srgbClr val="FF0000"/>
                </a:solidFill>
                <a:latin typeface="Times New Roman" panose="02020603050405020304" pitchFamily="18" charset="0"/>
                <a:cs typeface="Times New Roman" panose="02020603050405020304" pitchFamily="18" charset="0"/>
              </a:rPr>
              <a:t>Simulation Model</a:t>
            </a:r>
            <a:endParaRPr sz="3600" b="1" dirty="0">
              <a:solidFill>
                <a:srgbClr val="FF0000"/>
              </a:solidFill>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4A803679-7359-035B-EFC8-6C2D077C885F}"/>
              </a:ext>
            </a:extLst>
          </p:cNvPr>
          <p:cNvSpPr>
            <a:spLocks noGrp="1" noChangeArrowheads="1"/>
          </p:cNvSpPr>
          <p:nvPr>
            <p:ph idx="1"/>
          </p:nvPr>
        </p:nvSpPr>
        <p:spPr bwMode="auto">
          <a:xfrm>
            <a:off x="800099" y="1143000"/>
            <a:ext cx="10458450" cy="5582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real-time traffic simulation is implemented using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Pygame</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Vehicles are generated randomly with probabilistic distribution.</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Each simulation run lasts 300 seconds.</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Signal controller operates continuously with:</a:t>
            </a:r>
          </a:p>
          <a:p>
            <a:pPr marL="800100" lvl="1" indent="-342900" algn="just" eaLnBrk="0" fontAlgn="base" hangingPunct="0">
              <a:lnSpc>
                <a:spcPct val="100000"/>
              </a:lnSpc>
              <a:spcBef>
                <a:spcPct val="0"/>
              </a:spcBef>
              <a:spcAft>
                <a:spcPct val="0"/>
              </a:spcAft>
              <a:buFont typeface="+mj-lt"/>
              <a:buAutoNum type="arabicParenR"/>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Adaptive green timing</a:t>
            </a:r>
          </a:p>
          <a:p>
            <a:pPr marL="800100" lvl="1" indent="-342900" algn="just" eaLnBrk="0" fontAlgn="base" hangingPunct="0">
              <a:lnSpc>
                <a:spcPct val="100000"/>
              </a:lnSpc>
              <a:spcBef>
                <a:spcPct val="0"/>
              </a:spcBef>
              <a:spcAft>
                <a:spcPct val="0"/>
              </a:spcAft>
              <a:buFont typeface="+mj-lt"/>
              <a:buAutoNum type="arabicParenR"/>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Emergency interruption handling</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Vehicles follow:</a:t>
            </a:r>
          </a:p>
          <a:p>
            <a:pPr marL="800100" lvl="1" indent="-342900" algn="just" eaLnBrk="0" fontAlgn="base" hangingPunct="0">
              <a:lnSpc>
                <a:spcPct val="150000"/>
              </a:lnSpc>
              <a:spcBef>
                <a:spcPct val="0"/>
              </a:spcBef>
              <a:spcAft>
                <a:spcPct val="0"/>
              </a:spcAft>
              <a:buFont typeface="+mj-lt"/>
              <a:buAutoNum type="arabicParenR"/>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Stop-line constraints</a:t>
            </a:r>
          </a:p>
          <a:p>
            <a:pPr marL="800100" lvl="1" indent="-342900" algn="just" eaLnBrk="0" fontAlgn="base" hangingPunct="0">
              <a:lnSpc>
                <a:spcPct val="150000"/>
              </a:lnSpc>
              <a:spcBef>
                <a:spcPct val="0"/>
              </a:spcBef>
              <a:spcAft>
                <a:spcPct val="0"/>
              </a:spcAft>
              <a:buFont typeface="+mj-lt"/>
              <a:buAutoNum type="arabicParenR"/>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Safe inter-vehicle distance</a:t>
            </a:r>
          </a:p>
          <a:p>
            <a:pPr marL="800100" lvl="1" indent="-342900" algn="just" eaLnBrk="0" fontAlgn="base" hangingPunct="0">
              <a:lnSpc>
                <a:spcPct val="150000"/>
              </a:lnSpc>
              <a:spcBef>
                <a:spcPct val="0"/>
              </a:spcBef>
              <a:spcAft>
                <a:spcPct val="0"/>
              </a:spcAft>
              <a:buFont typeface="+mj-lt"/>
              <a:buAutoNum type="arabicParenR"/>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Turning rules</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simulation visually represents:</a:t>
            </a:r>
          </a:p>
          <a:p>
            <a:pPr marL="800100" lvl="1" indent="-342900" algn="just" eaLnBrk="0" fontAlgn="base" hangingPunct="0">
              <a:lnSpc>
                <a:spcPct val="150000"/>
              </a:lnSpc>
              <a:spcBef>
                <a:spcPct val="0"/>
              </a:spcBef>
              <a:spcAft>
                <a:spcPct val="0"/>
              </a:spcAft>
              <a:buFont typeface="+mj-lt"/>
              <a:buAutoNum type="arabicParenR"/>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Vehicle movement</a:t>
            </a:r>
          </a:p>
          <a:p>
            <a:pPr marL="800100" lvl="1" indent="-342900" algn="just" eaLnBrk="0" fontAlgn="base" hangingPunct="0">
              <a:lnSpc>
                <a:spcPct val="150000"/>
              </a:lnSpc>
              <a:spcBef>
                <a:spcPct val="0"/>
              </a:spcBef>
              <a:spcAft>
                <a:spcPct val="0"/>
              </a:spcAft>
              <a:buFont typeface="+mj-lt"/>
              <a:buAutoNum type="arabicParenR"/>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Signal state changes</a:t>
            </a:r>
          </a:p>
          <a:p>
            <a:pPr marL="800100" lvl="1" indent="-342900" algn="just" eaLnBrk="0" fontAlgn="base" hangingPunct="0">
              <a:lnSpc>
                <a:spcPct val="150000"/>
              </a:lnSpc>
              <a:spcBef>
                <a:spcPct val="0"/>
              </a:spcBef>
              <a:spcAft>
                <a:spcPct val="0"/>
              </a:spcAft>
              <a:buFont typeface="+mj-lt"/>
              <a:buAutoNum type="arabicParenR"/>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Traffic flow behavior</a:t>
            </a:r>
          </a:p>
        </p:txBody>
      </p:sp>
    </p:spTree>
    <p:extLst>
      <p:ext uri="{BB962C8B-B14F-4D97-AF65-F5344CB8AC3E}">
        <p14:creationId xmlns:p14="http://schemas.microsoft.com/office/powerpoint/2010/main" val="596290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12EE4-F219-6388-672D-E8BE29A73F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F4836B-7C3E-BFDA-A20E-72DB5C275599}"/>
              </a:ext>
            </a:extLst>
          </p:cNvPr>
          <p:cNvSpPr>
            <a:spLocks noGrp="1"/>
          </p:cNvSpPr>
          <p:nvPr>
            <p:ph type="title"/>
          </p:nvPr>
        </p:nvSpPr>
        <p:spPr>
          <a:xfrm>
            <a:off x="800101" y="184298"/>
            <a:ext cx="10591800" cy="762000"/>
          </a:xfrm>
        </p:spPr>
        <p:txBody>
          <a:bodyPr>
            <a:noAutofit/>
          </a:bodyPr>
          <a:lstStyle/>
          <a:p>
            <a:pPr algn="ctr"/>
            <a:r>
              <a:rPr lang="en-IN" sz="3600" b="1" dirty="0">
                <a:solidFill>
                  <a:srgbClr val="FF0000"/>
                </a:solidFill>
                <a:latin typeface="Times New Roman" panose="02020603050405020304" pitchFamily="18" charset="0"/>
                <a:cs typeface="Times New Roman" panose="02020603050405020304" pitchFamily="18" charset="0"/>
              </a:rPr>
              <a:t>Performance Evaluation</a:t>
            </a:r>
            <a:endParaRPr sz="3600" b="1" dirty="0">
              <a:solidFill>
                <a:srgbClr val="FF0000"/>
              </a:solidFill>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45D61A05-DCB3-0F20-1936-6744DA31BD56}"/>
              </a:ext>
            </a:extLst>
          </p:cNvPr>
          <p:cNvSpPr>
            <a:spLocks noGrp="1" noChangeArrowheads="1"/>
          </p:cNvSpPr>
          <p:nvPr>
            <p:ph idx="1"/>
          </p:nvPr>
        </p:nvSpPr>
        <p:spPr bwMode="auto">
          <a:xfrm>
            <a:off x="800099" y="1194571"/>
            <a:ext cx="10267950" cy="5382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system performance is evaluated based on:</a:t>
            </a:r>
          </a:p>
          <a:p>
            <a:pPr marL="800100" lvl="1" indent="-342900">
              <a:lnSpc>
                <a:spcPct val="150000"/>
              </a:lnSpc>
              <a:buFont typeface="+mj-lt"/>
              <a:buAutoNum type="arabicParenR"/>
            </a:pPr>
            <a:r>
              <a:rPr lang="en-US" sz="1800" dirty="0">
                <a:latin typeface="Times New Roman" panose="02020603050405020304" pitchFamily="18" charset="0"/>
                <a:cs typeface="Times New Roman" panose="02020603050405020304" pitchFamily="18" charset="0"/>
              </a:rPr>
              <a:t>Total number of vehicles crossed per lane</a:t>
            </a:r>
          </a:p>
          <a:p>
            <a:pPr marL="800100" lvl="1" indent="-342900">
              <a:lnSpc>
                <a:spcPct val="150000"/>
              </a:lnSpc>
              <a:buFont typeface="+mj-lt"/>
              <a:buAutoNum type="arabicParenR"/>
            </a:pPr>
            <a:r>
              <a:rPr lang="en-US" sz="1800" dirty="0">
                <a:latin typeface="Times New Roman" panose="02020603050405020304" pitchFamily="18" charset="0"/>
                <a:cs typeface="Times New Roman" panose="02020603050405020304" pitchFamily="18" charset="0"/>
              </a:rPr>
              <a:t>Average waiting time reduction</a:t>
            </a:r>
          </a:p>
          <a:p>
            <a:pPr marL="800100" lvl="1" indent="-342900">
              <a:lnSpc>
                <a:spcPct val="150000"/>
              </a:lnSpc>
              <a:buFont typeface="+mj-lt"/>
              <a:buAutoNum type="arabicParenR"/>
            </a:pPr>
            <a:r>
              <a:rPr lang="en-US" sz="1800" dirty="0">
                <a:latin typeface="Times New Roman" panose="02020603050405020304" pitchFamily="18" charset="0"/>
                <a:cs typeface="Times New Roman" panose="02020603050405020304" pitchFamily="18" charset="0"/>
              </a:rPr>
              <a:t>Emergency vehicle clearance time</a:t>
            </a:r>
          </a:p>
          <a:p>
            <a:pPr marL="800100" lvl="1" indent="-342900">
              <a:lnSpc>
                <a:spcPct val="150000"/>
              </a:lnSpc>
              <a:buFont typeface="+mj-lt"/>
              <a:buAutoNum type="arabicParenR"/>
            </a:pPr>
            <a:r>
              <a:rPr lang="en-US" sz="1800" dirty="0">
                <a:latin typeface="Times New Roman" panose="02020603050405020304" pitchFamily="18" charset="0"/>
                <a:cs typeface="Times New Roman" panose="02020603050405020304" pitchFamily="18" charset="0"/>
              </a:rPr>
              <a:t>Fairness in signal allocation</a:t>
            </a:r>
          </a:p>
          <a:p>
            <a:pPr marL="800100" lvl="1" indent="-342900">
              <a:lnSpc>
                <a:spcPct val="150000"/>
              </a:lnSpc>
              <a:buFont typeface="+mj-lt"/>
              <a:buAutoNum type="arabicParenR"/>
            </a:pPr>
            <a:r>
              <a:rPr lang="en-US" sz="1800" dirty="0">
                <a:latin typeface="Times New Roman" panose="02020603050405020304" pitchFamily="18" charset="0"/>
                <a:cs typeface="Times New Roman" panose="02020603050405020304" pitchFamily="18" charset="0"/>
              </a:rPr>
              <a:t>Signal utilization efficiency</a:t>
            </a:r>
          </a:p>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System maintains stable throughput even during emergency interruptions.</a:t>
            </a:r>
          </a:p>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Observed improvements:</a:t>
            </a:r>
          </a:p>
          <a:p>
            <a:pPr marL="800100" lvl="1" indent="-342900">
              <a:lnSpc>
                <a:spcPct val="150000"/>
              </a:lnSpc>
              <a:buFont typeface="+mj-lt"/>
              <a:buAutoNum type="arabicParenR"/>
            </a:pPr>
            <a:r>
              <a:rPr lang="en-US" sz="1800" dirty="0">
                <a:latin typeface="Times New Roman" panose="02020603050405020304" pitchFamily="18" charset="0"/>
                <a:cs typeface="Times New Roman" panose="02020603050405020304" pitchFamily="18" charset="0"/>
              </a:rPr>
              <a:t>Reduced congestion during high-density traffic</a:t>
            </a:r>
          </a:p>
          <a:p>
            <a:pPr marL="800100" lvl="1" indent="-342900">
              <a:lnSpc>
                <a:spcPct val="150000"/>
              </a:lnSpc>
              <a:buFont typeface="+mj-lt"/>
              <a:buAutoNum type="arabicParenR"/>
            </a:pPr>
            <a:r>
              <a:rPr lang="en-US" sz="1800" dirty="0">
                <a:latin typeface="Times New Roman" panose="02020603050405020304" pitchFamily="18" charset="0"/>
                <a:cs typeface="Times New Roman" panose="02020603050405020304" pitchFamily="18" charset="0"/>
              </a:rPr>
              <a:t>Faster emergency vehicle passage</a:t>
            </a:r>
          </a:p>
          <a:p>
            <a:pPr marL="800100" lvl="1" indent="-342900">
              <a:lnSpc>
                <a:spcPct val="150000"/>
              </a:lnSpc>
              <a:buFont typeface="+mj-lt"/>
              <a:buAutoNum type="arabicParenR"/>
            </a:pPr>
            <a:r>
              <a:rPr lang="en-US" sz="1800" dirty="0">
                <a:latin typeface="Times New Roman" panose="02020603050405020304" pitchFamily="18" charset="0"/>
                <a:cs typeface="Times New Roman" panose="02020603050405020304" pitchFamily="18" charset="0"/>
              </a:rPr>
              <a:t>Balanced service among all lanes</a:t>
            </a:r>
          </a:p>
        </p:txBody>
      </p:sp>
    </p:spTree>
    <p:extLst>
      <p:ext uri="{BB962C8B-B14F-4D97-AF65-F5344CB8AC3E}">
        <p14:creationId xmlns:p14="http://schemas.microsoft.com/office/powerpoint/2010/main" val="37937925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27F8B-BA06-00DF-2A41-001E3921D3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EBBEDD-FF98-1A2F-9DDE-0E8C9BAAA382}"/>
              </a:ext>
            </a:extLst>
          </p:cNvPr>
          <p:cNvSpPr>
            <a:spLocks noGrp="1"/>
          </p:cNvSpPr>
          <p:nvPr>
            <p:ph type="title"/>
          </p:nvPr>
        </p:nvSpPr>
        <p:spPr>
          <a:xfrm>
            <a:off x="800099" y="228600"/>
            <a:ext cx="10591800" cy="762000"/>
          </a:xfrm>
        </p:spPr>
        <p:txBody>
          <a:bodyPr>
            <a:noAutofit/>
          </a:bodyPr>
          <a:lstStyle/>
          <a:p>
            <a:pPr algn="ctr"/>
            <a:r>
              <a:rPr lang="en-IN" sz="3600" b="1" dirty="0">
                <a:solidFill>
                  <a:srgbClr val="FF0000"/>
                </a:solidFill>
                <a:latin typeface="Times New Roman" panose="02020603050405020304" pitchFamily="18" charset="0"/>
                <a:cs typeface="Times New Roman" panose="02020603050405020304" pitchFamily="18" charset="0"/>
              </a:rPr>
              <a:t>Analysis of Experimental Data</a:t>
            </a:r>
            <a:endParaRPr sz="3600" b="1" dirty="0">
              <a:solidFill>
                <a:srgbClr val="FF0000"/>
              </a:solidFill>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D9C62C7C-16F0-2443-F1DF-F6BC450BD615}"/>
              </a:ext>
            </a:extLst>
          </p:cNvPr>
          <p:cNvSpPr>
            <a:spLocks noGrp="1" noChangeArrowheads="1"/>
          </p:cNvSpPr>
          <p:nvPr>
            <p:ph idx="1"/>
          </p:nvPr>
        </p:nvSpPr>
        <p:spPr bwMode="auto">
          <a:xfrm>
            <a:off x="800099" y="1219200"/>
            <a:ext cx="10591800" cy="5297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Lane-wise vehicle count data is recorded at the end of simulation.</a:t>
            </a:r>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Traffic throughput is measured as:</a:t>
            </a:r>
          </a:p>
          <a:p>
            <a:pPr lvl="1" algn="just">
              <a:lnSpc>
                <a:spcPct val="100000"/>
              </a:lnSpc>
            </a:pPr>
            <a:r>
              <a:rPr lang="en-US" sz="1800" dirty="0">
                <a:latin typeface="Times New Roman" panose="02020603050405020304" pitchFamily="18" charset="0"/>
                <a:cs typeface="Times New Roman" panose="02020603050405020304" pitchFamily="18" charset="0"/>
              </a:rPr>
              <a:t>Vehicles passed per unit time</a:t>
            </a:r>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Emergency scenarios show:</a:t>
            </a:r>
          </a:p>
          <a:p>
            <a:pPr lvl="1" algn="just">
              <a:lnSpc>
                <a:spcPct val="100000"/>
              </a:lnSpc>
            </a:pPr>
            <a:r>
              <a:rPr lang="en-US" sz="1800" dirty="0">
                <a:latin typeface="Times New Roman" panose="02020603050405020304" pitchFamily="18" charset="0"/>
                <a:cs typeface="Times New Roman" panose="02020603050405020304" pitchFamily="18" charset="0"/>
              </a:rPr>
              <a:t>Immediate signal switching</a:t>
            </a:r>
          </a:p>
          <a:p>
            <a:pPr lvl="1" algn="just">
              <a:lnSpc>
                <a:spcPct val="100000"/>
              </a:lnSpc>
            </a:pPr>
            <a:r>
              <a:rPr lang="en-US" sz="1800" dirty="0">
                <a:latin typeface="Times New Roman" panose="02020603050405020304" pitchFamily="18" charset="0"/>
                <a:cs typeface="Times New Roman" panose="02020603050405020304" pitchFamily="18" charset="0"/>
              </a:rPr>
              <a:t>No starvation of other lanes</a:t>
            </a:r>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Results confirm:</a:t>
            </a:r>
          </a:p>
          <a:p>
            <a:pPr lvl="1" algn="just">
              <a:lnSpc>
                <a:spcPct val="100000"/>
              </a:lnSpc>
            </a:pPr>
            <a:r>
              <a:rPr lang="en-US" sz="1800" dirty="0">
                <a:latin typeface="Times New Roman" panose="02020603050405020304" pitchFamily="18" charset="0"/>
                <a:cs typeface="Times New Roman" panose="02020603050405020304" pitchFamily="18" charset="0"/>
              </a:rPr>
              <a:t>Stable operation for full simulation duration</a:t>
            </a:r>
          </a:p>
          <a:p>
            <a:pPr lvl="1" algn="just">
              <a:lnSpc>
                <a:spcPct val="100000"/>
              </a:lnSpc>
            </a:pPr>
            <a:r>
              <a:rPr lang="en-US" sz="1800" dirty="0">
                <a:latin typeface="Times New Roman" panose="02020603050405020304" pitchFamily="18" charset="0"/>
                <a:cs typeface="Times New Roman" panose="02020603050405020304" pitchFamily="18" charset="0"/>
              </a:rPr>
              <a:t>Effective adaptive signal timing</a:t>
            </a:r>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Robust emergency handling </a:t>
            </a:r>
            <a:r>
              <a:rPr lang="en-US" sz="1800" dirty="0" err="1">
                <a:latin typeface="Times New Roman" panose="02020603050405020304" pitchFamily="18" charset="0"/>
                <a:cs typeface="Times New Roman" panose="02020603050405020304" pitchFamily="18" charset="0"/>
              </a:rPr>
              <a:t>logicExperimental</a:t>
            </a:r>
            <a:r>
              <a:rPr lang="en-US" sz="1800" dirty="0">
                <a:latin typeface="Times New Roman" panose="02020603050405020304" pitchFamily="18" charset="0"/>
                <a:cs typeface="Times New Roman" panose="02020603050405020304" pitchFamily="18" charset="0"/>
              </a:rPr>
              <a:t> results show consistent lane utilization over the simulation period.</a:t>
            </a:r>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Emergency handling does not significantly degrade overall traffic efficiency.</a:t>
            </a:r>
          </a:p>
        </p:txBody>
      </p:sp>
    </p:spTree>
    <p:extLst>
      <p:ext uri="{BB962C8B-B14F-4D97-AF65-F5344CB8AC3E}">
        <p14:creationId xmlns:p14="http://schemas.microsoft.com/office/powerpoint/2010/main" val="34903408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AFCD5-296D-5682-945E-79DFD1F2439A}"/>
              </a:ext>
            </a:extLst>
          </p:cNvPr>
          <p:cNvSpPr>
            <a:spLocks noGrp="1"/>
          </p:cNvSpPr>
          <p:nvPr>
            <p:ph type="title"/>
          </p:nvPr>
        </p:nvSpPr>
        <p:spPr>
          <a:xfrm>
            <a:off x="838200" y="228600"/>
            <a:ext cx="10515600" cy="685799"/>
          </a:xfrm>
        </p:spPr>
        <p:txBody>
          <a:bodyPr>
            <a:normAutofit/>
          </a:bodyPr>
          <a:lstStyle/>
          <a:p>
            <a:pPr algn="ctr"/>
            <a:r>
              <a:rPr lang="en-IN" sz="3600" b="1" dirty="0">
                <a:solidFill>
                  <a:srgbClr val="FF0000"/>
                </a:solidFill>
                <a:latin typeface="Times New Roman" panose="02020603050405020304" pitchFamily="18" charset="0"/>
                <a:cs typeface="Times New Roman" panose="02020603050405020304" pitchFamily="18" charset="0"/>
              </a:rPr>
              <a:t>Implementation</a:t>
            </a:r>
          </a:p>
        </p:txBody>
      </p:sp>
      <p:sp>
        <p:nvSpPr>
          <p:cNvPr id="3" name="Content Placeholder 2">
            <a:extLst>
              <a:ext uri="{FF2B5EF4-FFF2-40B4-BE49-F238E27FC236}">
                <a16:creationId xmlns:a16="http://schemas.microsoft.com/office/drawing/2014/main" id="{63DBD4AE-7B33-DD4A-6C3E-15238EF6CDB3}"/>
              </a:ext>
            </a:extLst>
          </p:cNvPr>
          <p:cNvSpPr>
            <a:spLocks noGrp="1"/>
          </p:cNvSpPr>
          <p:nvPr>
            <p:ph idx="1"/>
          </p:nvPr>
        </p:nvSpPr>
        <p:spPr>
          <a:xfrm>
            <a:off x="838200" y="1173162"/>
            <a:ext cx="10515600" cy="5494338"/>
          </a:xfrm>
        </p:spPr>
        <p:txBody>
          <a:bodyPr>
            <a:normAutofit/>
          </a:bodyPr>
          <a:lstStyle/>
          <a:p>
            <a:pPr algn="just">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Captured real-time traffic video using cameras</a:t>
            </a:r>
          </a:p>
          <a:p>
            <a:pPr algn="just">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Converted video into frames for processing</a:t>
            </a:r>
          </a:p>
          <a:p>
            <a:pPr algn="just">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Applied preprocessing (resize, noise reduction)</a:t>
            </a:r>
          </a:p>
          <a:p>
            <a:pPr algn="just">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Used YOLO model for vehicle detection</a:t>
            </a:r>
          </a:p>
          <a:p>
            <a:pPr algn="just">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Classified vehicles (car, bus, truck, bike, ambulance)</a:t>
            </a:r>
          </a:p>
          <a:p>
            <a:pPr algn="just">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Defined ROI for lane-wise vehicle mapping</a:t>
            </a:r>
          </a:p>
          <a:p>
            <a:pPr algn="just">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Counted vehicles in each lane in real time</a:t>
            </a:r>
          </a:p>
          <a:p>
            <a:pPr algn="just">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Calculated traffic density for each lane</a:t>
            </a:r>
          </a:p>
          <a:p>
            <a:pPr algn="just">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Implemented adaptive signal timing logic</a:t>
            </a:r>
          </a:p>
          <a:p>
            <a:pPr algn="just">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Enabled emergency vehicle priority &amp; simulation using </a:t>
            </a:r>
            <a:r>
              <a:rPr lang="en-IN" sz="1800" dirty="0" err="1">
                <a:latin typeface="Times New Roman" panose="02020603050405020304" pitchFamily="18" charset="0"/>
                <a:cs typeface="Times New Roman" panose="02020603050405020304" pitchFamily="18" charset="0"/>
              </a:rPr>
              <a:t>Pygame</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92718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0AA1C-F9C9-3095-E638-77305539E041}"/>
              </a:ext>
            </a:extLst>
          </p:cNvPr>
          <p:cNvSpPr>
            <a:spLocks noGrp="1"/>
          </p:cNvSpPr>
          <p:nvPr>
            <p:ph type="title"/>
          </p:nvPr>
        </p:nvSpPr>
        <p:spPr>
          <a:xfrm>
            <a:off x="838200" y="228600"/>
            <a:ext cx="10515600" cy="701675"/>
          </a:xfrm>
        </p:spPr>
        <p:txBody>
          <a:bodyPr>
            <a:normAutofit/>
          </a:bodyPr>
          <a:lstStyle/>
          <a:p>
            <a:pPr algn="ctr"/>
            <a:r>
              <a:rPr lang="en-IN" sz="3600" b="1" dirty="0">
                <a:solidFill>
                  <a:srgbClr val="FF0000"/>
                </a:solidFill>
                <a:latin typeface="Times New Roman" panose="02020603050405020304" pitchFamily="18" charset="0"/>
                <a:cs typeface="Times New Roman" panose="02020603050405020304" pitchFamily="18" charset="0"/>
              </a:rPr>
              <a:t>Results</a:t>
            </a:r>
          </a:p>
        </p:txBody>
      </p:sp>
      <p:sp>
        <p:nvSpPr>
          <p:cNvPr id="3" name="Content Placeholder 2">
            <a:extLst>
              <a:ext uri="{FF2B5EF4-FFF2-40B4-BE49-F238E27FC236}">
                <a16:creationId xmlns:a16="http://schemas.microsoft.com/office/drawing/2014/main" id="{33228575-1FAC-300A-AE0B-FF1D99FD9934}"/>
              </a:ext>
            </a:extLst>
          </p:cNvPr>
          <p:cNvSpPr>
            <a:spLocks noGrp="1"/>
          </p:cNvSpPr>
          <p:nvPr>
            <p:ph idx="1"/>
          </p:nvPr>
        </p:nvSpPr>
        <p:spPr>
          <a:xfrm>
            <a:off x="838200" y="1143000"/>
            <a:ext cx="10515600" cy="5246688"/>
          </a:xfrm>
        </p:spPr>
        <p:txBody>
          <a:bodyPr>
            <a:normAutofit lnSpcReduction="10000"/>
          </a:bodyPr>
          <a:lstStyle/>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Achieved accurate real-time vehicle detection </a:t>
            </a:r>
          </a:p>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Reliable lane-wise vehicle counting </a:t>
            </a:r>
          </a:p>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Effective traffic density estimation </a:t>
            </a:r>
          </a:p>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Dynamic signal timing improved traffic flow </a:t>
            </a:r>
          </a:p>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Reduced vehicle waiting time at intersections </a:t>
            </a:r>
          </a:p>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Minimized overall traffic congestion </a:t>
            </a:r>
          </a:p>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Smooth handling of varying traffic conditions </a:t>
            </a:r>
          </a:p>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Successful emergency vehicle detection &amp; priority </a:t>
            </a:r>
          </a:p>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Simulation validated system performance </a:t>
            </a:r>
          </a:p>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System proved efficient, scalable, and suitable for real-world use </a:t>
            </a:r>
          </a:p>
        </p:txBody>
      </p:sp>
    </p:spTree>
    <p:extLst>
      <p:ext uri="{BB962C8B-B14F-4D97-AF65-F5344CB8AC3E}">
        <p14:creationId xmlns:p14="http://schemas.microsoft.com/office/powerpoint/2010/main" val="2164812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0C491-5C58-E574-A682-9333F6FF76CD}"/>
              </a:ext>
            </a:extLst>
          </p:cNvPr>
          <p:cNvSpPr>
            <a:spLocks noGrp="1"/>
          </p:cNvSpPr>
          <p:nvPr>
            <p:ph type="title"/>
          </p:nvPr>
        </p:nvSpPr>
        <p:spPr>
          <a:xfrm>
            <a:off x="838200" y="365125"/>
            <a:ext cx="10515600" cy="1235075"/>
          </a:xfrm>
        </p:spPr>
        <p:txBody>
          <a:bodyPr>
            <a:normAutofit/>
          </a:bodyPr>
          <a:lstStyle/>
          <a:p>
            <a:pPr algn="ctr"/>
            <a:r>
              <a:rPr lang="en-IN" sz="3600" b="1" dirty="0">
                <a:solidFill>
                  <a:srgbClr val="FF0000"/>
                </a:solidFill>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E0A6EA32-E7BC-2AB3-68B2-2A8D168CDEF8}"/>
              </a:ext>
            </a:extLst>
          </p:cNvPr>
          <p:cNvSpPr>
            <a:spLocks noGrp="1"/>
          </p:cNvSpPr>
          <p:nvPr>
            <p:ph idx="1"/>
          </p:nvPr>
        </p:nvSpPr>
        <p:spPr>
          <a:xfrm>
            <a:off x="838200" y="1600200"/>
            <a:ext cx="10515600" cy="4576763"/>
          </a:xfrm>
        </p:spPr>
        <p:txBody>
          <a:bodyPr>
            <a:normAutofit/>
          </a:bodyPr>
          <a:lstStyle/>
          <a:p>
            <a:pPr algn="just">
              <a:lnSpc>
                <a:spcPct val="150000"/>
              </a:lnSpc>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Developed an intelligent traffic system using Computer Vision and AI </a:t>
            </a:r>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Successfully replaced fixed signals with adaptive signal control </a:t>
            </a:r>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Improved traffic flow and reduced congestion &amp; waiting time </a:t>
            </a:r>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Achieved accurate vehicle detection and density analysis </a:t>
            </a:r>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Enabled emergency vehicle priority for faster response </a:t>
            </a:r>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System is efficient, scalable, and suitable for smart city applications </a:t>
            </a:r>
          </a:p>
        </p:txBody>
      </p:sp>
    </p:spTree>
    <p:extLst>
      <p:ext uri="{BB962C8B-B14F-4D97-AF65-F5344CB8AC3E}">
        <p14:creationId xmlns:p14="http://schemas.microsoft.com/office/powerpoint/2010/main" val="39414542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586EE-F37F-0F2B-692A-C79521445FEE}"/>
              </a:ext>
            </a:extLst>
          </p:cNvPr>
          <p:cNvSpPr>
            <a:spLocks noGrp="1"/>
          </p:cNvSpPr>
          <p:nvPr>
            <p:ph type="title"/>
          </p:nvPr>
        </p:nvSpPr>
        <p:spPr/>
        <p:txBody>
          <a:bodyPr>
            <a:normAutofit/>
          </a:bodyPr>
          <a:lstStyle/>
          <a:p>
            <a:pPr algn="ctr"/>
            <a:r>
              <a:rPr lang="en-IN" sz="3600" b="1" dirty="0">
                <a:solidFill>
                  <a:srgbClr val="FF0000"/>
                </a:solidFill>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9E795010-9FCC-A965-4C7B-0420D6E346F4}"/>
              </a:ext>
            </a:extLst>
          </p:cNvPr>
          <p:cNvSpPr>
            <a:spLocks noGrp="1"/>
          </p:cNvSpPr>
          <p:nvPr>
            <p:ph idx="1"/>
          </p:nvPr>
        </p:nvSpPr>
        <p:spPr>
          <a:xfrm>
            <a:off x="838200" y="1752600"/>
            <a:ext cx="10515600" cy="4351338"/>
          </a:xfrm>
        </p:spPr>
        <p:txBody>
          <a:bodyPr>
            <a:normAutofit/>
          </a:bodyPr>
          <a:lstStyle/>
          <a:p>
            <a:pPr algn="just">
              <a:lnSpc>
                <a:spcPct val="150000"/>
              </a:lnSpc>
              <a:buFont typeface="Wingdings" panose="05000000000000000000" pitchFamily="2" charset="2"/>
              <a:buChar char="Ø"/>
            </a:pPr>
            <a:endParaRPr lang="en-IN" sz="18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YOLO-Based Traffic Detection – Journal of Automation, 2023</a:t>
            </a:r>
          </a:p>
          <a:p>
            <a:pPr algn="just">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Intelligent Traffic Control using Deep Learning – IOP Conference, 2021</a:t>
            </a:r>
          </a:p>
          <a:p>
            <a:pPr algn="just">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Real-Time Vehicle Detection using YOLOv8 – IIETA Journal, 2024</a:t>
            </a:r>
          </a:p>
          <a:p>
            <a:pPr algn="just">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Smart Traffic System using YOLO – IJISAE, 2023</a:t>
            </a:r>
          </a:p>
          <a:p>
            <a:pPr algn="just">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Vehicle Detection Techniques – IEEE Transactions, 2022</a:t>
            </a:r>
          </a:p>
          <a:p>
            <a:pPr algn="just">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Traffic Monitoring using YOLO – DSP Journal, 2024</a:t>
            </a:r>
          </a:p>
        </p:txBody>
      </p:sp>
    </p:spTree>
    <p:extLst>
      <p:ext uri="{BB962C8B-B14F-4D97-AF65-F5344CB8AC3E}">
        <p14:creationId xmlns:p14="http://schemas.microsoft.com/office/powerpoint/2010/main" val="23597874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514600"/>
            <a:ext cx="8229600" cy="1143000"/>
          </a:xfrm>
        </p:spPr>
        <p:txBody>
          <a:bodyPr>
            <a:normAutofit/>
          </a:bodyPr>
          <a:lstStyle/>
          <a:p>
            <a:pPr algn="ctr">
              <a:spcBef>
                <a:spcPct val="0"/>
              </a:spcBef>
              <a:buNone/>
            </a:pPr>
            <a:r>
              <a:rPr lang="en-IN" sz="3600" b="1" dirty="0">
                <a:solidFill>
                  <a:srgbClr val="FF0000"/>
                </a:solidFill>
                <a:latin typeface="Times New Roman" panose="02020603050405020304" pitchFamily="18" charset="0"/>
                <a:cs typeface="Times New Roman" panose="02020603050405020304" pitchFamily="18" charset="0"/>
              </a:rPr>
              <a:t>Thank You</a:t>
            </a:r>
            <a:endParaRPr lang="en-US" sz="36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5637716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264</TotalTime>
  <Words>1625</Words>
  <Application>Microsoft Office PowerPoint</Application>
  <PresentationFormat>Widescreen</PresentationFormat>
  <Paragraphs>221</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Calibri Light</vt:lpstr>
      <vt:lpstr>Times New Roman</vt:lpstr>
      <vt:lpstr>Wingdings</vt:lpstr>
      <vt:lpstr>Office Theme</vt:lpstr>
      <vt:lpstr>A Project abstract presentation  on Intelligent Adaptive Traffic Signal Control Using Computer Vision with Emergency Vehicle Priority</vt:lpstr>
      <vt:lpstr>Contents</vt:lpstr>
      <vt:lpstr>Abstract</vt:lpstr>
      <vt:lpstr>Introduction</vt:lpstr>
      <vt:lpstr> </vt:lpstr>
      <vt:lpstr>Statement of the problem</vt:lpstr>
      <vt:lpstr>Motivation</vt:lpstr>
      <vt:lpstr>Objectives</vt:lpstr>
      <vt:lpstr>Literature Survey</vt:lpstr>
      <vt:lpstr>Limitations of Existing Methods</vt:lpstr>
      <vt:lpstr>Physical Model</vt:lpstr>
      <vt:lpstr>Proposed System</vt:lpstr>
      <vt:lpstr>Software and Hardware Requirements</vt:lpstr>
      <vt:lpstr>Simulation Model</vt:lpstr>
      <vt:lpstr>Performance Evaluation</vt:lpstr>
      <vt:lpstr>Analysis of Experimental Data</vt:lpstr>
      <vt:lpstr>Implementation</vt:lpstr>
      <vt:lpstr>Results</vt:lpstr>
      <vt:lpstr>Conclusion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APPLE</dc:creator>
  <cp:lastModifiedBy>Herambudu neelapu</cp:lastModifiedBy>
  <cp:revision>215</cp:revision>
  <dcterms:created xsi:type="dcterms:W3CDTF">2018-02-12T04:29:00Z</dcterms:created>
  <dcterms:modified xsi:type="dcterms:W3CDTF">2026-04-14T12:01:58Z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B4E3AF8FB4D24E6FB9737CB5F85AE273_13</vt:lpwstr>
  </property>
  <property fmtid="{D5CDD505-2E9C-101B-9397-08002B2CF9AE}" pid="3" name="KSOProductBuildVer">
    <vt:lpwstr>2057-12.2.0.17119</vt:lpwstr>
  </property>
</Properties>
</file>